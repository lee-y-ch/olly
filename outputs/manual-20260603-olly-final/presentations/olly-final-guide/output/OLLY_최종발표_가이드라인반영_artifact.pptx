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78cf85230ae41c0" /><Relationship Type="http://schemas.openxmlformats.org/officeDocument/2006/relationships/extended-properties" Target="/docProps/app.xml" Id="R1141eda804fb4ab3" /><Relationship Type="http://schemas.openxmlformats.org/officeDocument/2006/relationships/officeDocument" Target="/ppt/presentation.xml" Id="R36fd15399556466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63e515604394fb8"/>
  </p:sldMasterIdLst>
  <p:notesMasterIdLst>
    <p:notesMasterId xmlns:r="http://schemas.openxmlformats.org/officeDocument/2006/relationships" r:id="Re23a9e2b0dc44f52"/>
  </p:notesMasterIdLst>
  <p:sldIdLst>
    <p:sldId xmlns:r="http://schemas.openxmlformats.org/officeDocument/2006/relationships" id="256" r:id="R93237fd447f64d27"/>
    <p:sldId xmlns:r="http://schemas.openxmlformats.org/officeDocument/2006/relationships" id="257" r:id="R75e0da5927324eb7"/>
    <p:sldId xmlns:r="http://schemas.openxmlformats.org/officeDocument/2006/relationships" id="258" r:id="Rcfa52b17d06f4345"/>
    <p:sldId xmlns:r="http://schemas.openxmlformats.org/officeDocument/2006/relationships" id="259" r:id="Rbabebd6be6c44995"/>
    <p:sldId xmlns:r="http://schemas.openxmlformats.org/officeDocument/2006/relationships" id="260" r:id="Rf932d15fbd4547b0"/>
    <p:sldId xmlns:r="http://schemas.openxmlformats.org/officeDocument/2006/relationships" id="261" r:id="R6b22fecabc7446f0"/>
    <p:sldId xmlns:r="http://schemas.openxmlformats.org/officeDocument/2006/relationships" id="262" r:id="R0610d1e99b4f48f2"/>
    <p:sldId xmlns:r="http://schemas.openxmlformats.org/officeDocument/2006/relationships" id="263" r:id="R89231f21499540e7"/>
    <p:sldId xmlns:r="http://schemas.openxmlformats.org/officeDocument/2006/relationships" id="264" r:id="Ra9dffef383414684"/>
    <p:sldId xmlns:r="http://schemas.openxmlformats.org/officeDocument/2006/relationships" id="265" r:id="Reb579ebbb72a48de"/>
    <p:sldId xmlns:r="http://schemas.openxmlformats.org/officeDocument/2006/relationships" id="266" r:id="R7ec873f4bc4543bb"/>
    <p:sldId xmlns:r="http://schemas.openxmlformats.org/officeDocument/2006/relationships" id="267" r:id="R68df08d23d4f496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46b049d3cf34c7c" /><Relationship Type="http://schemas.openxmlformats.org/officeDocument/2006/relationships/slideMaster" Target="/ppt/slideMasters/slideMaster1.xml" Id="R563e515604394fb8" /><Relationship Type="http://schemas.openxmlformats.org/officeDocument/2006/relationships/notesMaster" Target="/ppt/notesMasters/notesMaster1.xml" Id="Re23a9e2b0dc44f52" /><Relationship Type="http://schemas.openxmlformats.org/officeDocument/2006/relationships/presProps" Target="/ppt/presProps.xml" Id="Rb2e15683214a435b" /><Relationship Type="http://schemas.openxmlformats.org/officeDocument/2006/relationships/viewProps" Target="/ppt/viewProps.xml" Id="Rf6168494be9f4f0e" /><Relationship Type="http://schemas.openxmlformats.org/officeDocument/2006/relationships/tableStyles" Target="/ppt/tableStyles.xml" Id="R0fe46fe5b07f4ab1" /><Relationship Type="http://schemas.openxmlformats.org/officeDocument/2006/relationships/slide" Target="/ppt/slides/slide1.xml" Id="R93237fd447f64d27" /><Relationship Type="http://schemas.openxmlformats.org/officeDocument/2006/relationships/slide" Target="/ppt/slides/slide2.xml" Id="R75e0da5927324eb7" /><Relationship Type="http://schemas.openxmlformats.org/officeDocument/2006/relationships/slide" Target="/ppt/slides/slide3.xml" Id="Rcfa52b17d06f4345" /><Relationship Type="http://schemas.openxmlformats.org/officeDocument/2006/relationships/slide" Target="/ppt/slides/slide4.xml" Id="Rbabebd6be6c44995" /><Relationship Type="http://schemas.openxmlformats.org/officeDocument/2006/relationships/slide" Target="/ppt/slides/slide5.xml" Id="Rf932d15fbd4547b0" /><Relationship Type="http://schemas.openxmlformats.org/officeDocument/2006/relationships/slide" Target="/ppt/slides/slide6.xml" Id="R6b22fecabc7446f0" /><Relationship Type="http://schemas.openxmlformats.org/officeDocument/2006/relationships/slide" Target="/ppt/slides/slide7.xml" Id="R0610d1e99b4f48f2" /><Relationship Type="http://schemas.openxmlformats.org/officeDocument/2006/relationships/slide" Target="/ppt/slides/slide8.xml" Id="R89231f21499540e7" /><Relationship Type="http://schemas.openxmlformats.org/officeDocument/2006/relationships/slide" Target="/ppt/slides/slide9.xml" Id="Ra9dffef383414684" /><Relationship Type="http://schemas.openxmlformats.org/officeDocument/2006/relationships/slide" Target="/ppt/slides/slide10.xml" Id="Reb579ebbb72a48de" /><Relationship Type="http://schemas.openxmlformats.org/officeDocument/2006/relationships/slide" Target="/ppt/slides/slide11.xml" Id="R7ec873f4bc4543bb" /><Relationship Type="http://schemas.openxmlformats.org/officeDocument/2006/relationships/slide" Target="/ppt/slides/slide12.xml" Id="R68df08d23d4f496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769d0881cab4c1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47702923dcb4a94" /><Relationship Type="http://schemas.openxmlformats.org/officeDocument/2006/relationships/notesMaster" Target="/ppt/notesMasters/notesMaster1.xml" Id="Rb8b9e3e55dce420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ff65ffce99347f3" /><Relationship Type="http://schemas.openxmlformats.org/officeDocument/2006/relationships/notesMaster" Target="/ppt/notesMasters/notesMaster1.xml" Id="R4feb3f97c291411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98618932d074fd9" /><Relationship Type="http://schemas.openxmlformats.org/officeDocument/2006/relationships/notesMaster" Target="/ppt/notesMasters/notesMaster1.xml" Id="R74706727807746e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07b18d3f7374c0e" /><Relationship Type="http://schemas.openxmlformats.org/officeDocument/2006/relationships/notesMaster" Target="/ppt/notesMasters/notesMaster1.xml" Id="R67172a46155d49c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cce771094544cad" /><Relationship Type="http://schemas.openxmlformats.org/officeDocument/2006/relationships/notesMaster" Target="/ppt/notesMasters/notesMaster1.xml" Id="R1572938b497c41b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77df07d48e44d16" /><Relationship Type="http://schemas.openxmlformats.org/officeDocument/2006/relationships/notesMaster" Target="/ppt/notesMasters/notesMaster1.xml" Id="R82573665421c4ec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333fc7c806245e4" /><Relationship Type="http://schemas.openxmlformats.org/officeDocument/2006/relationships/notesMaster" Target="/ppt/notesMasters/notesMaster1.xml" Id="Ree0917e63630403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199a1583ed9451d" /><Relationship Type="http://schemas.openxmlformats.org/officeDocument/2006/relationships/notesMaster" Target="/ppt/notesMasters/notesMaster1.xml" Id="R0f2fccd0c3bf455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1a755b49f944cbe" /><Relationship Type="http://schemas.openxmlformats.org/officeDocument/2006/relationships/notesMaster" Target="/ppt/notesMasters/notesMaster1.xml" Id="Rc729875648f8406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c259f2fd1d14ac6" /><Relationship Type="http://schemas.openxmlformats.org/officeDocument/2006/relationships/notesMaster" Target="/ppt/notesMasters/notesMaster1.xml" Id="Re17e5b609d13408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a6167f182464c20" /><Relationship Type="http://schemas.openxmlformats.org/officeDocument/2006/relationships/notesMaster" Target="/ppt/notesMasters/notesMaster1.xml" Id="R44ffb331712f469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4cff2fac7ba4d59" /><Relationship Type="http://schemas.openxmlformats.org/officeDocument/2006/relationships/notesMaster" Target="/ppt/notesMasters/notesMaster1.xml" Id="Rc676e18207cb43d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4a8601de7f499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ad231d5a0b2480e" /><Relationship Type="http://schemas.openxmlformats.org/officeDocument/2006/relationships/slideLayout" Target="/ppt/slideLayouts/slideLayout1.xml" Id="R7e6c5760cb814a4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e6c5760cb814a4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03e03b3e0f4bea" /><Relationship Type="http://schemas.openxmlformats.org/officeDocument/2006/relationships/image" Target="/ppt/media/image.png" Id="R8821fdc92d7c4f9a" /><Relationship Type="http://schemas.openxmlformats.org/officeDocument/2006/relationships/notesSlide" Target="/ppt/notesSlides/notesSlide1.xml" Id="R30757cd8fc3f4d1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723d9f248e479b" /><Relationship Type="http://schemas.openxmlformats.org/officeDocument/2006/relationships/notesSlide" Target="/ppt/notesSlides/notesSlide2.xml" Id="R812977e00213454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faab72a4a046d5" /><Relationship Type="http://schemas.openxmlformats.org/officeDocument/2006/relationships/notesSlide" Target="/ppt/notesSlides/notesSlide3.xml" Id="R0e5796bfd3614c4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a96a6003cd45a5" /><Relationship Type="http://schemas.openxmlformats.org/officeDocument/2006/relationships/image" Target="/ppt/media/image2.png" Id="Reb3de9b8bf104d3e" /><Relationship Type="http://schemas.openxmlformats.org/officeDocument/2006/relationships/notesSlide" Target="/ppt/notesSlides/notesSlide4.xml" Id="R91ba5c5a9b0c4cd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6bea73993c4955" /><Relationship Type="http://schemas.openxmlformats.org/officeDocument/2006/relationships/notesSlide" Target="/ppt/notesSlides/notesSlide5.xml" Id="R955d537a900f49a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68e036036d42fc" /><Relationship Type="http://schemas.openxmlformats.org/officeDocument/2006/relationships/image" Target="/ppt/media/image3.png" Id="R7f046af70d3344d8" /><Relationship Type="http://schemas.openxmlformats.org/officeDocument/2006/relationships/image" Target="/ppt/media/image4.png" Id="R856d5bb5fd334b45" /><Relationship Type="http://schemas.openxmlformats.org/officeDocument/2006/relationships/notesSlide" Target="/ppt/notesSlides/notesSlide6.xml" Id="R8b5299b5849e424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ba43862c6d45d8" /><Relationship Type="http://schemas.openxmlformats.org/officeDocument/2006/relationships/image" Target="/ppt/media/image.jpeg" Id="R9cae32cc7bf54d8d" /><Relationship Type="http://schemas.openxmlformats.org/officeDocument/2006/relationships/notesSlide" Target="/ppt/notesSlides/notesSlide7.xml" Id="R52f3025b24ca4fb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8acdc084b94a4b" /><Relationship Type="http://schemas.openxmlformats.org/officeDocument/2006/relationships/notesSlide" Target="/ppt/notesSlides/notesSlide8.xml" Id="Rbe56d2b5475548a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a35a048b314e8e" /><Relationship Type="http://schemas.openxmlformats.org/officeDocument/2006/relationships/image" Target="/ppt/media/image5.png" Id="Rd6123e951de541b5" /><Relationship Type="http://schemas.openxmlformats.org/officeDocument/2006/relationships/image" Target="/ppt/media/image6.png" Id="R16b2fcfd783e42b4" /><Relationship Type="http://schemas.openxmlformats.org/officeDocument/2006/relationships/image" Target="/ppt/media/image7.png" Id="R78dabe9792ae4044" /><Relationship Type="http://schemas.openxmlformats.org/officeDocument/2006/relationships/notesSlide" Target="/ppt/notesSlides/notesSlide9.xml" Id="R1fd10a74744f4b5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39d5b4a7dc4142" /><Relationship Type="http://schemas.openxmlformats.org/officeDocument/2006/relationships/notesSlide" Target="/ppt/notesSlides/notesSlide10.xml" Id="R2bb479e278824dd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c39bef9a1d46c9" /><Relationship Type="http://schemas.openxmlformats.org/officeDocument/2006/relationships/notesSlide" Target="/ppt/notesSlides/notesSlide11.xml" Id="R5d1cc7e25c9347b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3d02ad6b9248fc" /><Relationship Type="http://schemas.openxmlformats.org/officeDocument/2006/relationships/notesSlide" Target="/ppt/notesSlides/notesSlide12.xml" Id="Rfe780a71f0fa4aa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F433034-71D5-47E7-B906-D6FB909A1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554"/>
          </a:solidFill>
          <a:ln xmlns:a="http://schemas.openxmlformats.org/drawingml/2006/main" w="0">
            <a:solidFill>
              <a:srgbClr val="17255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672DBB-A684-4C66-AE47-0BC02901C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304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554"/>
          </a:solidFill>
          <a:ln xmlns:a="http://schemas.openxmlformats.org/drawingml/2006/main" w="0">
            <a:solidFill>
              <a:srgbClr val="172554"/>
            </a:solidFill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94203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OLLY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9A3794-ADF3-4093-89F2-AA08A9274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5334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554"/>
          </a:solidFill>
          <a:ln xmlns:a="http://schemas.openxmlformats.org/drawingml/2006/main" w="0">
            <a:solidFill>
              <a:srgbClr val="172554"/>
            </a:solidFill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CNCF 오픈소스 기반</a:t>
            </a:r>
          </a:p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LLM 운영 관측성 MVP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B196D2-5F65-4153-9C35-2A5EAB2D7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71750"/>
            <a:ext cx="6477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554"/>
          </a:solidFill>
          <a:ln xmlns:a="http://schemas.openxmlformats.org/drawingml/2006/main" w="0">
            <a:solidFill>
              <a:srgbClr val="172554"/>
            </a:solidFill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DE7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비용, 지연, 병목, 실패를 request_id와 trace_id로 끝까지 연결한다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FCDDFE-C000-4D24-B9BA-ACE1485D9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43250"/>
            <a:ext cx="11430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F32A80-1840-4683-8EEA-6A7B5B30B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09925"/>
            <a:ext cx="9906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70513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Kubernetes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3EA40B-35B0-4C91-A395-9573A7BEC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143250"/>
            <a:ext cx="13144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6D28D9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62C759-5650-44F5-8247-B65AFD224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209925"/>
            <a:ext cx="11620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6D28D9"/>
            </a:solidFill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70513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OpenTelemetry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3ECF9C-A8CB-4E8C-9FBC-68B6C81EF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143250"/>
            <a:ext cx="11430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6DAE60-1D63-4707-84FC-0045EDC76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209925"/>
            <a:ext cx="9906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70513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Prometheus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F6445B-F2CE-47AC-808C-519E86BD2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143250"/>
            <a:ext cx="11430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891B2"/>
          </a:solidFill>
          <a:ln xmlns:a="http://schemas.openxmlformats.org/drawingml/2006/main" w="9525">
            <a:solidFill>
              <a:srgbClr val="0891B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EECFD5-1E52-4D55-A9A3-A3C7FBF4F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209925"/>
            <a:ext cx="9906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70513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Jaeger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F228EF-7255-4703-BA4F-AB06D5F26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742950"/>
            <a:ext cx="16192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DD3A71-C9CF-4972-9D3A-AC347CDCE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895350"/>
            <a:ext cx="1276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EA0B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NORMAL P50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F3BD87-4965-4AFC-A445-ABB781E80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104900"/>
            <a:ext cx="1276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891B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1.47s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4D85EB-A03B-4C88-996A-EDEF12174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466850"/>
            <a:ext cx="127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B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정상 요청 기준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86C36E-C86B-4D9C-8C69-0F8725250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742950"/>
            <a:ext cx="18097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2A8410-2426-4285-A965-01947FA90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895350"/>
            <a:ext cx="1466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EA0B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HIGH TOKEN P50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566C57-62CF-4A1F-818F-95AE993B2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104900"/>
            <a:ext cx="1466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34.58s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1D417E-B75E-4CA1-8C91-54D3975A0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466850"/>
            <a:ext cx="1466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B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토큰 과다 병목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F1F864-8503-42DF-9989-BA09595CC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924050"/>
            <a:ext cx="16192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E02A11-64F1-4FC5-BD37-6C389FE02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076450"/>
            <a:ext cx="1276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EA0B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ERROR TRACE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757BED-A3EA-4AD9-9B9F-04A5BAB44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286000"/>
            <a:ext cx="1276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A34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100%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746254-F7A1-4AF2-AC04-238224755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647950"/>
            <a:ext cx="127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B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실패 요청 보존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0CDC79E-1A83-4706-824F-584B76932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924050"/>
            <a:ext cx="18097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A4A8CF6-2342-4FB0-8D41-C3E83FA12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076450"/>
            <a:ext cx="1466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EA0B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CNCF STACK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933ACD8-1460-4B16-98FF-9595CE971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286000"/>
            <a:ext cx="1466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D9770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9ABE9E3-4E7E-4EF5-9A36-3B3CA7835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647950"/>
            <a:ext cx="1466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B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표준 프로젝트 적용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21fdc92d7c4f9a"/>
          <a:stretch xmlns:a="http://schemas.openxmlformats.org/drawingml/2006/main"/>
        </p:blipFill>
        <p:spPr>
          <a:xfrm xmlns:a="http://schemas.openxmlformats.org/drawingml/2006/main">
            <a:off x="7143750" y="3429000"/>
            <a:ext cx="3619500" cy="2038350"/>
          </a:xfrm>
          <a:prstGeom xmlns:a="http://schemas.openxmlformats.org/drawingml/2006/main" prst="rect">
            <a:avLst/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3A3F497-2BDC-45CB-835C-C3D5BCD6D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352800"/>
            <a:ext cx="3771900" cy="2190750"/>
          </a:xfrm>
          <a:prstGeom xmlns:a="http://schemas.openxmlformats.org/drawingml/2006/main" prst="roundRect">
            <a:avLst>
              <a:gd name="adj" fmla="val 3478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E1E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6D335C7-861F-4651-93A8-4BEC030C9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05500"/>
            <a:ext cx="533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554"/>
          </a:solidFill>
          <a:ln xmlns:a="http://schemas.openxmlformats.org/drawingml/2006/main" w="0">
            <a:solidFill>
              <a:srgbClr val="172554"/>
            </a:solidFill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BD5E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오픈소스SW분석 (클라우드) 5조</a:t>
            </a:r>
          </a:p>
          <a:p xmlns:a="http://schemas.openxmlformats.org/drawingml/2006/main">
            <a:pPr algn="l">
              <a:defRPr sz="1125" b="0">
                <a:solidFill>
                  <a:srgbClr val="CBD5E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최호준 | 이용찬 | 박주희 | 조하은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66BA341-3867-4B0F-A9C3-3426429DC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361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554"/>
          </a:solidFill>
          <a:ln xmlns:a="http://schemas.openxmlformats.org/drawingml/2006/main" w="0">
            <a:solidFill>
              <a:srgbClr val="172554"/>
            </a:solidFill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BD5E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OLLY | LLM service observability MVP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E1425FB-385C-4F39-B006-EFEF6920A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5795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554"/>
          </a:solidFill>
          <a:ln xmlns:a="http://schemas.openxmlformats.org/drawingml/2006/main" w="0">
            <a:solidFill>
              <a:srgbClr val="172554"/>
            </a:solidFill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97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CBD5E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01 / 12</a:t>
            </a:r>
          </a:p>
        </p:txBody>
      </p:sp>
    </p:spTree>
    <p:extLst>
      <p:ext uri="{BB962C8B-B14F-4D97-AF65-F5344CB8AC3E}">
        <p14:creationId xmlns:p14="http://schemas.microsoft.com/office/powerpoint/2010/main" val="58068388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0C19392-ACA2-4089-A313-DA42D6F8C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1149CA-DC60-4B3D-BCC3-E65C19924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1C2742-0479-448F-AA68-C7AFE6C2D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9375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4F7290-1CE3-499E-B864-46BC7E6CD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29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우리가 풀려던 문제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4E87F4-925C-4461-94D0-BD3D51EA8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857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LLM 서비스 장애는 결과만 보고는 원인을 알 수 없다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F9AF4A-1702-4C20-8FAC-2E51D12E0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95450"/>
            <a:ext cx="247650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54E3A2-8DB6-4602-9A5A-44D6869CC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95450"/>
            <a:ext cx="6667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A05852-AA51-468A-98FC-2EA8A5EC3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66900"/>
            <a:ext cx="2076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사용자가 보는 현상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7FA2D8-B407-4C3B-8E79-11300E5AD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28850"/>
            <a:ext cx="20764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B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답변이 느리다</a:t>
            </a:r>
          </a:p>
          <a:p xmlns:a="http://schemas.openxmlformats.org/drawingml/2006/main">
            <a:pPr algn="l">
              <a:defRPr sz="1125" b="0">
                <a:solidFill>
                  <a:srgbClr val="5B6B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답변이 실패했다</a:t>
            </a:r>
          </a:p>
          <a:p xmlns:a="http://schemas.openxmlformats.org/drawingml/2006/main">
            <a:pPr algn="l">
              <a:defRPr sz="1125" b="0">
                <a:solidFill>
                  <a:srgbClr val="5B6B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비용이 갑자기 늘었다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D72BAD-2300-44B6-99C0-4C2D7BB67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562100"/>
            <a:ext cx="24765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A1BDA8-01F5-47CC-8AE3-3618708D9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77165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75758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/chat API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DB05C7-9936-4B01-8DC9-B2052A041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952750"/>
            <a:ext cx="14859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BAE6F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B77D97-023F-4E95-9777-EAD886AF4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952750"/>
            <a:ext cx="14859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C7D2F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AC2371-7828-4306-BA14-47BE67F81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952750"/>
            <a:ext cx="14859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BBF7D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51885C-8B7E-4E77-ABA6-88DBDB77A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171825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6862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retrieve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142BC2-627C-441D-9580-08B331112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171825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F"/>
          </a:solidFill>
          <a:ln xmlns:a="http://schemas.openxmlformats.org/drawingml/2006/main" w="0">
            <a:solidFill>
              <a:srgbClr val="EEF2FF"/>
            </a:solidFill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6862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llm_call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160FA4-7287-4A99-A5D5-9DBB45DE8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171825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0">
            <a:solidFill>
              <a:srgbClr val="ECFDF5"/>
            </a:solidFill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6862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postprocess</a:t>
            </a:r>
          </a:p>
        </p:txBody>
      </p:sp>
      <p:cxnSp>
        <p:nvCxnSpPr>
          <p:cNvPr id="18" name=""/>
          <p:cNvCxnSpPr>
            <a:stCxn xmlns:a="http://schemas.openxmlformats.org/drawingml/2006/main" id="10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 flipH="1">
            <a:off x="4476750" y="2305050"/>
            <a:ext cx="809625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91B2"/>
            </a:solidFill>
            <a:prstDash val="solid"/>
            <a:headEnd type="arrow" w="med" len="med"/>
          </a:ln>
        </p:spPr>
      </p:cxnSp>
      <p:cxnSp>
        <p:nvCxnSpPr>
          <p:cNvPr id="1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5219700" y="3286125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  <a:headEnd type="arrow" w="med" len="med"/>
          </a:ln>
        </p:spPr>
      </p:cxnSp>
      <p:cxnSp>
        <p:nvCxnSpPr>
          <p:cNvPr id="2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7067550" y="3286125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A34A"/>
            </a:solidFill>
            <a:prstDash val="solid"/>
            <a:head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52BBB0-65DD-4489-8AB8-C3C3E4B7C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695450"/>
            <a:ext cx="2095500" cy="21907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3ACFC7-0320-49C6-9EDC-12EF75DC7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695450"/>
            <a:ext cx="6667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53D7CF-0772-41CB-AB95-DF80E6B70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66900"/>
            <a:ext cx="1695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운영자가 필요한 질문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1527CB-C401-4415-81D0-41BBD9821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228850"/>
            <a:ext cx="16954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B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검색이 느린가?</a:t>
            </a:r>
          </a:p>
          <a:p xmlns:a="http://schemas.openxmlformats.org/drawingml/2006/main">
            <a:pPr algn="l">
              <a:defRPr sz="1125" b="0">
                <a:solidFill>
                  <a:srgbClr val="5B6B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모델 추론이 느린가?</a:t>
            </a:r>
          </a:p>
          <a:p xmlns:a="http://schemas.openxmlformats.org/drawingml/2006/main">
            <a:pPr algn="l">
              <a:defRPr sz="1125" b="0">
                <a:solidFill>
                  <a:srgbClr val="5B6B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토큰이 많아서 비용이 늘었나?</a:t>
            </a:r>
          </a:p>
          <a:p xmlns:a="http://schemas.openxmlformats.org/drawingml/2006/main">
            <a:pPr algn="l">
              <a:defRPr sz="1125" b="0">
                <a:solidFill>
                  <a:srgbClr val="5B6B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실패 요청도 추적되는가?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93D010-BE25-49E8-BAB9-A0FA3437C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362450"/>
            <a:ext cx="9715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ED7A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CA952F1-2FB8-4811-9413-CA7EC3C06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591050"/>
            <a:ext cx="914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0">
            <a:solidFill>
              <a:srgbClr val="FFF7ED"/>
            </a:solidFill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84226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OLLY의 목표: 하나의 요청을 request_id와 trace_id로 묶고, latency, token, cost, stage duration, alert를 같은 관측 단위로 연결한다.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29C2556-0846-4046-BEEF-F343CAB83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361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EA0B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OLLY | LLM service observability MVP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4D8A73-8766-481A-AD04-181ABA49A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5795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97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EA0B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02 / 12</a:t>
            </a:r>
          </a:p>
        </p:txBody>
      </p:sp>
    </p:spTree>
    <p:extLst>
      <p:ext uri="{BB962C8B-B14F-4D97-AF65-F5344CB8AC3E}">
        <p14:creationId xmlns:p14="http://schemas.microsoft.com/office/powerpoint/2010/main" val="69212633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2CC5EB2-DD8D-4058-A4FC-5F47562C0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D41611-DC5A-41A1-BA31-4C25A4686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58601D-5EB4-463C-8FA7-8900DC59B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9375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B983ED-F3A4-41F5-8AB2-4D576666E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29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1차 발표 이후 변화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853675-B027-4DC1-BDFA-BFAA886CC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857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1차 이후에는 아이디어를 운영 가능한 파이프라인으로 바꿨다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622F96-8030-422A-9819-E083558F3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10382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554"/>
          </a:solidFill>
          <a:ln xmlns:a="http://schemas.openxmlformats.org/drawingml/2006/main" w="5715">
            <a:solidFill>
              <a:srgbClr val="D8E1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A1DD2C-535F-48F3-8403-95672CDCC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71625"/>
            <a:ext cx="1276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554"/>
          </a:solidFill>
          <a:ln xmlns:a="http://schemas.openxmlformats.org/drawingml/2006/main" w="0">
            <a:solidFill>
              <a:srgbClr val="172554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구분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583A54-2753-4285-815B-D3CCC3CAB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1571625"/>
            <a:ext cx="4705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554"/>
          </a:solidFill>
          <a:ln xmlns:a="http://schemas.openxmlformats.org/drawingml/2006/main" w="0">
            <a:solidFill>
              <a:srgbClr val="172554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1차 이후 바뀐 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9E948A-DBC6-4CE2-A714-C3DACC6FB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571625"/>
            <a:ext cx="3943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554"/>
          </a:solidFill>
          <a:ln xmlns:a="http://schemas.openxmlformats.org/drawingml/2006/main" w="0">
            <a:solidFill>
              <a:srgbClr val="172554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의미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2C7D00-93F8-46DA-9EAD-8E8D483CE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10382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E1E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FD3881-263B-463B-9F85-34383C300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62175"/>
            <a:ext cx="1276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관측 대상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5C21F6-37B7-4B92-AF43-0B45BE0B4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162175"/>
            <a:ext cx="4705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로컬 SLM Ollama gemma3:1b 샘플 /chat API 구현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568870-071E-4B2C-9BEE-2264B66FC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162175"/>
            <a:ext cx="3943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반복 검증 비용과 외부 API 쿼터 위험 제거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C80037-444F-4A0B-83F0-6166D2CF3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86050"/>
            <a:ext cx="10382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5715">
            <a:solidFill>
              <a:srgbClr val="D8E1E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180C20-F3D2-4971-BC1E-178EC0145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52725"/>
            <a:ext cx="1276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추적 단위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1D101A-F9E8-443C-85AE-E57D17905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752725"/>
            <a:ext cx="4705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request_id와 trace_id를 응답, metric, trace에 동시 기록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806497-576F-49DA-B398-DF20811EF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752725"/>
            <a:ext cx="3943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대시보드와 Jaeger를 같은 요청 기준으로 연결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784792-9837-452C-A972-0767BF909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76600"/>
            <a:ext cx="10382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E1E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576241-9BBC-4820-9697-CC7C95E65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43275"/>
            <a:ext cx="1276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운영 화면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72F4AE-2530-4328-A77E-441A8456F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343275"/>
            <a:ext cx="4705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Chat UI, 통합 대시보드, 분석 챗봇, Grafana 연동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7D8DEF-6BAB-441B-AF30-B0DE12339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343275"/>
            <a:ext cx="3943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데모가 기능 설명이 아니라 장애 대응 흐름이 됨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E4FF5A-A91C-4EC4-8D88-1F6296192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67150"/>
            <a:ext cx="10382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5715">
            <a:solidFill>
              <a:srgbClr val="D8E1E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D04BFB-D004-4895-864F-1768B425D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33825"/>
            <a:ext cx="1276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알림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0788E2-77AB-4DFD-8FA2-58BC326D6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933825"/>
            <a:ext cx="4705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Prometheus rule과 Discord webhook, 커스텀 알림 저장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CFA476-9E5F-4C47-8998-20E899C1A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933825"/>
            <a:ext cx="3943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이상 신호가 화면 안에 머무르지 않고 전달됨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71D4E27-EF20-49C9-951C-B6A468893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57700"/>
            <a:ext cx="10382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E1E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C70E681-6D9E-434B-88C3-80C2B0553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24375"/>
            <a:ext cx="1276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배포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6672E43-3E6E-4AFA-B638-FEF8AA41E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524375"/>
            <a:ext cx="4705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Docker Compose와 kind Kubernetes manifest 제공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FA90BF6-80D5-465A-A6BE-73FB7A431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524375"/>
            <a:ext cx="3943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재현 가능한 CNCF 기반 실행 환경 확보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1C981D9-5ACD-4A9A-879C-8FF87F5D9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34000"/>
            <a:ext cx="10191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BAE6F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8F8EEA0-7682-45AA-BE08-797A1FB49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543550"/>
            <a:ext cx="962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5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핵심 변화는 '무엇을 만들겠다'에서 '문제 상황을 주입하고 원인을 끝까지 추적했다'로 이동한 것이다.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0565FE9-8410-481B-907D-5231BB16A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361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EA0B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OLLY | LLM service observability MVP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1CED2B3-EC6B-4539-9CFE-18C1D0D2F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5795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97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EA0B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03 / 12</a:t>
            </a:r>
          </a:p>
        </p:txBody>
      </p:sp>
    </p:spTree>
    <p:extLst>
      <p:ext uri="{BB962C8B-B14F-4D97-AF65-F5344CB8AC3E}">
        <p14:creationId xmlns:p14="http://schemas.microsoft.com/office/powerpoint/2010/main" val="57845563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C905BE9-C5E2-4DB2-9A52-B58B515D3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A6B7E0-F696-4A97-B532-7D4F916BB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C3CD7C-7895-4D67-B6B5-180F5E4A6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9375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5A1999-2E42-4FED-87D0-71DA9A49C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29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최종 아키텍처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F8641A-83AE-4BF4-93B5-CC0925133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857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최종 아키텍처는 요청 처리, 수집, 운영 분석을 분리했다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3de9b8bf104d3e"/>
          <a:stretch xmlns:a="http://schemas.openxmlformats.org/drawingml/2006/main"/>
        </p:blipFill>
        <p:spPr>
          <a:xfrm xmlns:a="http://schemas.openxmlformats.org/drawingml/2006/main">
            <a:off x="628650" y="1428750"/>
            <a:ext cx="6715125" cy="40005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2B1A0F-B972-4374-8A3B-8CFE88EF8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6867525" cy="4152900"/>
          </a:xfrm>
          <a:prstGeom xmlns:a="http://schemas.openxmlformats.org/drawingml/2006/main" prst="roundRect">
            <a:avLst>
              <a:gd name="adj" fmla="val 1835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E1E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D1A0C9-B4A7-4888-B9DA-C9E94D18C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428750"/>
            <a:ext cx="31432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D71C99-1A97-4D9B-B45D-81E8B2369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428750"/>
            <a:ext cx="666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9525">
            <a:solidFill>
              <a:srgbClr val="0891B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8D8CBD-81E9-471D-AEBC-BF6641493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600200"/>
            <a:ext cx="2743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1. 요청 처리 경로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CDA584-1E22-48EB-B38C-CBF9EFEB4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962150"/>
            <a:ext cx="2743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B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Chat UI -&gt; FastAPI /chat -&gt; retrieve -&gt; llm_call -&gt; postprocess -&gt; 응답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39D186-D9E8-4755-962B-EF0B1EF47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24150"/>
            <a:ext cx="314325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FE192E-6B3E-4D81-85C9-960F48F06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24150"/>
            <a:ext cx="66675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86CC29-058C-438F-AEB8-043160828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895600"/>
            <a:ext cx="2743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2. 관측성 수집 경로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1CEF35-42FC-4D0B-9463-6024774AE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257550"/>
            <a:ext cx="2743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B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OpenTelemetry span과 Prometheus metric을 요청 처리와 독립적으로 수집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DE2B25-AE9B-4CD5-9217-720636B31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152900"/>
            <a:ext cx="314325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6036E4-2594-43D8-8E54-8B4F76747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152900"/>
            <a:ext cx="66675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5F50F3-126C-4CF0-8CF1-1DB43E275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324350"/>
            <a:ext cx="2743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3. 운영 분석 경로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D15E2C-FC8E-4A77-ACB8-48F28A01C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686300"/>
            <a:ext cx="2743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B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Dashboard와 분석 챗봇은 Prometheus, Jaeger API를 조회하는 소비자 역할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70861A-7D99-4518-AD6D-20670D658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53100"/>
            <a:ext cx="990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분리의 이유: 실제 서비스에 이식할 때 업무 로직, 관측 파이프라인, 운영 화면을 독립적으로 교체하거나 확장하기 위해서다.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C7714D-CD23-4110-99E3-8E684E8D1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361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EA0B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OLLY | LLM service observability MVP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E36A30-7140-4911-B8E5-DBFF9ADC0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5795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97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EA0B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04 / 12</a:t>
            </a:r>
          </a:p>
        </p:txBody>
      </p:sp>
    </p:spTree>
    <p:extLst>
      <p:ext uri="{BB962C8B-B14F-4D97-AF65-F5344CB8AC3E}">
        <p14:creationId xmlns:p14="http://schemas.microsoft.com/office/powerpoint/2010/main" val="211325898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1105EE8-4A65-4E1C-9BE7-8C92A87C9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484C2B-CC2D-4B3C-80F7-3CA2E233B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D472C2-D2AB-4EC0-9E45-8CB15BAAC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9375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4C2075-347B-46D1-97B3-DEF6A23BD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29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Trace-Metric 연결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315A48-87F1-4391-ABFB-98242B6AA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857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요청 하나가 세 단계 span과 운영 지표로 동시에 남는다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C84901-A00F-4A55-8631-D69377857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1333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D8E1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A3EE10-FC70-4A1A-BCFF-696151386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24050"/>
            <a:ext cx="1104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88235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Chat UI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A86A94-CC7D-454D-99B7-6977D747C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714500"/>
            <a:ext cx="1333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D8E1E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D41593-0A1F-4D42-B3C7-CFDE5290A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924050"/>
            <a:ext cx="1104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88235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/chat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12A8B7-5B79-466F-B93C-A3722A2CA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714500"/>
            <a:ext cx="1333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CFEFF"/>
          </a:solidFill>
          <a:ln xmlns:a="http://schemas.openxmlformats.org/drawingml/2006/main" w="9525">
            <a:solidFill>
              <a:srgbClr val="D8E1E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37EBBE-BD82-46AB-BF6E-EF85AD899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924050"/>
            <a:ext cx="1104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EFF"/>
          </a:solidFill>
          <a:ln xmlns:a="http://schemas.openxmlformats.org/drawingml/2006/main" w="0">
            <a:solidFill>
              <a:srgbClr val="ECFEFF"/>
            </a:solidFill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88235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retrieve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E110FB-112F-489F-B3A2-85511D01D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14500"/>
            <a:ext cx="1333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D8E1E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C04175-C4C4-4D0A-A9DC-FD1C52D5B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924050"/>
            <a:ext cx="1104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F"/>
          </a:solidFill>
          <a:ln xmlns:a="http://schemas.openxmlformats.org/drawingml/2006/main" w="0">
            <a:solidFill>
              <a:srgbClr val="EEF2FF"/>
            </a:solidFill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88235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llm_call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A9A2FE-AF48-4976-A6B5-F69A769B8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714500"/>
            <a:ext cx="1333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D8E1E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FB6E81-67CE-4E7F-A769-E9B628CCA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924050"/>
            <a:ext cx="1104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0">
            <a:solidFill>
              <a:srgbClr val="ECFDF5"/>
            </a:solidFill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88235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postprocess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8A65A6-1243-4AF1-8D32-FCA716A20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714500"/>
            <a:ext cx="1333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D8E1E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C3B231-4232-4BF0-BE82-EA5C88AD5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1924050"/>
            <a:ext cx="1104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88235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Response</a:t>
            </a:r>
          </a:p>
        </p:txBody>
      </p:sp>
      <p:cxnSp>
        <p:nvCxnSpPr>
          <p:cNvPr id="18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000250" y="20478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  <a:headEnd type="arrow" w="med" len="med"/>
          </a:ln>
        </p:spPr>
      </p:cxnSp>
      <p:cxnSp>
        <p:nvCxnSpPr>
          <p:cNvPr id="19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810000" y="20478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  <a:headEnd type="arrow" w="med" len="med"/>
          </a:ln>
        </p:spPr>
      </p:cxnSp>
      <p:cxnSp>
        <p:nvCxnSpPr>
          <p:cNvPr id="20" name=""/>
          <p:cNvCxnSpPr>
            <a:stCxn xmlns:a="http://schemas.openxmlformats.org/drawingml/2006/main" id="10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5619750" y="20478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  <a:headEnd type="arrow" w="med" len="med"/>
          </a:ln>
        </p:spPr>
      </p:cxnSp>
      <p:cxnSp>
        <p:nvCxnSpPr>
          <p:cNvPr id="21" name=""/>
          <p:cNvCxnSpPr>
            <a:stCxn xmlns:a="http://schemas.openxmlformats.org/drawingml/2006/main" id="12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7429500" y="20478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  <a:headEnd type="arrow" w="med" len="med"/>
          </a:ln>
        </p:spPr>
      </p:cxnSp>
      <p:cxnSp>
        <p:nvCxnSpPr>
          <p:cNvPr id="22" name=""/>
          <p:cNvCxnSpPr>
            <a:stCxn xmlns:a="http://schemas.openxmlformats.org/drawingml/2006/main" id="14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9239250" y="20478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  <a:headEnd type="arrow" w="med" len="me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6A77D9-9516-42B2-9A40-EA3630AB6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952750"/>
            <a:ext cx="59055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B63EE4-A276-441A-8B73-338532F65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10515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EA0B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공통 식별자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B2DFEC-571C-46C5-908C-31E65250B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333750"/>
            <a:ext cx="5143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72464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request_id + trace_id + feature + scenario + status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304CDDE-AF8C-4727-A2C3-503E22A8A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286250"/>
            <a:ext cx="28575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322A257-0004-4E5A-83F5-897F6A69B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438650"/>
            <a:ext cx="2514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EA0B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Prometheus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4C260D0-4AD6-48EA-A55E-C6301502F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648200"/>
            <a:ext cx="2514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D9770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Metric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BB0E44F-5D13-4E23-B748-06A876970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010150"/>
            <a:ext cx="2514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B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latency, token, cost, error, stage duration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0B66F65-F882-4949-99B3-9B9016AC6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286250"/>
            <a:ext cx="28575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0C36E8F-6753-4D56-B146-D14EC3D57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438650"/>
            <a:ext cx="2514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EA0B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Jaeger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F89198E-C147-4D3F-9A4E-C640F42FE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648200"/>
            <a:ext cx="2514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891B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Trace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2E59912-4B98-4973-8412-C3838A404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010150"/>
            <a:ext cx="2514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B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POST /chat root span + 3개 stage span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5866A85-77C9-4D20-9717-0DCB9E1E2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286250"/>
            <a:ext cx="28575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D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33247FE-E8E5-4126-9ED8-ADE17DB72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438650"/>
            <a:ext cx="2514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EA0B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Dashboard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E02D1CF-678D-402D-8034-FA52C4D12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648200"/>
            <a:ext cx="2514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A34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Insight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6DFC893-FB53-41EF-ADA6-C8BBC70A4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010150"/>
            <a:ext cx="2514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B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최근 요청, 병목 단계, 알림 상태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7F90EF4-9B40-461E-B2ED-870A6AC85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361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EA0B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OLLY | LLM service observability MVP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9691985-34AE-4050-AE33-5467D4C68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5795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97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EA0B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05 / 12</a:t>
            </a:r>
          </a:p>
        </p:txBody>
      </p:sp>
    </p:spTree>
    <p:extLst>
      <p:ext uri="{BB962C8B-B14F-4D97-AF65-F5344CB8AC3E}">
        <p14:creationId xmlns:p14="http://schemas.microsoft.com/office/powerpoint/2010/main" val="19088554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9BCC8ED-709A-4E5A-A8F7-4C50811B2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C7D5F7-1D8D-41D6-A109-32502C3D7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79C12F-31A7-4906-93CF-70E564409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9375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1BF529-B836-451A-9A25-5A8444F18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29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CNCF 프로젝트의 실제 역할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AAEE11-F47E-4439-A868-6B448242C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857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CNCF 프로젝트는 장식이 아니라 관측성 역할을 나눠 맡았다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5C5B29-B1F9-4C21-BCB6-C90190302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10039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554"/>
          </a:solidFill>
          <a:ln xmlns:a="http://schemas.openxmlformats.org/drawingml/2006/main" w="5715">
            <a:solidFill>
              <a:srgbClr val="D8E1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5DC662-45F6-4DD6-B0BA-DF8EE1F95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95425"/>
            <a:ext cx="1257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554"/>
          </a:solidFill>
          <a:ln xmlns:a="http://schemas.openxmlformats.org/drawingml/2006/main" w="0">
            <a:solidFill>
              <a:srgbClr val="172554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CNCF 도구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103271-ED0E-4E9B-A2CC-CEEAEEA01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495425"/>
            <a:ext cx="2095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554"/>
          </a:solidFill>
          <a:ln xmlns:a="http://schemas.openxmlformats.org/drawingml/2006/main" w="0">
            <a:solidFill>
              <a:srgbClr val="172554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프로젝트 내 역할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80E225-771E-4872-851F-93018E3BA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495425"/>
            <a:ext cx="3848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554"/>
          </a:solidFill>
          <a:ln xmlns:a="http://schemas.openxmlformats.org/drawingml/2006/main" w="0">
            <a:solidFill>
              <a:srgbClr val="172554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구현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46CD34-928C-42A6-86D3-4219CAF69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495425"/>
            <a:ext cx="2228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554"/>
          </a:solidFill>
          <a:ln xmlns:a="http://schemas.openxmlformats.org/drawingml/2006/main" w="0">
            <a:solidFill>
              <a:srgbClr val="172554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효과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48CD95-B263-4573-8CBF-CDE1BC2F1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81200"/>
            <a:ext cx="10039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E1E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2558A6-D83F-4152-842F-912CA3B52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47875"/>
            <a:ext cx="1257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Kubernetes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01FEFD-F288-40C1-9E21-1BB0327BA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047875"/>
            <a:ext cx="2095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kind 기반 로컬 클러스터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34122D-7C57-4638-A29D-21CA4027E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047875"/>
            <a:ext cx="3848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Deployment, Service, PVC, Job, ConfigMap, NodePort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5893B7-2C57-4752-BAFF-EB0E874A5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47875"/>
            <a:ext cx="2228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재현 가능한 실행 환경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CFC10A-F5C7-4046-8210-71F55F52E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33650"/>
            <a:ext cx="10039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5715">
            <a:solidFill>
              <a:srgbClr val="D8E1E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DB4CC0-EF24-4AFA-93F8-7F542208B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00325"/>
            <a:ext cx="1257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OpenTelemetry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73DC3C-98A9-4A1F-B2DC-30A47E9C7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600325"/>
            <a:ext cx="2095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애플리케이션 계측 표준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A7275C-558D-4F56-8AD4-73FCFB7C9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600325"/>
            <a:ext cx="3848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FastAPI, retrieve, llm_call, postprocess span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BD9B65-3A6E-40FA-AAFE-E5CF07832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00325"/>
            <a:ext cx="2228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vendor-neutral 요청 추적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402C54-5C2C-4015-AAEA-1744D6AB7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86100"/>
            <a:ext cx="10039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E1E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C5FD2F-E557-489E-A4F1-0D0EBE825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52775"/>
            <a:ext cx="1257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Prometheus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48FCAA-5BE5-4679-B1B7-9DD7BF3D1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152775"/>
            <a:ext cx="2095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metric 저장과 PromQL 분석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65C9A6-E994-4688-A05A-A8151C74E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152775"/>
            <a:ext cx="3848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requests, tokens, cost, latency, errors, alert rules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E61F61E-3A84-405F-8CA8-2346512DC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152775"/>
            <a:ext cx="2228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운영 지표 집계와 알림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E044101-C1D7-40A5-89F6-6D22D3202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38550"/>
            <a:ext cx="10039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5715">
            <a:solidFill>
              <a:srgbClr val="D8E1E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F2289AA-6FC8-4C58-99C9-E3977B359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05225"/>
            <a:ext cx="1257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Jaeger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E4DF0DE-71DC-41A5-B24A-60BD26C30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705225"/>
            <a:ext cx="2095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분산 trace 시각화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AF92C75-B7BF-4C33-889C-1804715D3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705225"/>
            <a:ext cx="3848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POST /chat trace와 단계별 span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BBD62FE-8F8B-4B36-84FA-2047B072C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705225"/>
            <a:ext cx="2228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요청 하나의 병목 위치 확인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046af70d3344d8"/>
          <a:stretch xmlns:a="http://schemas.openxmlformats.org/drawingml/2006/main"/>
        </p:blipFill>
        <p:spPr>
          <a:xfrm xmlns:a="http://schemas.openxmlformats.org/drawingml/2006/main">
            <a:off x="990600" y="4457700"/>
            <a:ext cx="4286250" cy="1504950"/>
          </a:xfrm>
          <a:prstGeom xmlns:a="http://schemas.openxmlformats.org/drawingml/2006/main" prst="rect">
            <a:avLst/>
          </a:prstGeom>
        </p:spPr>
      </p:pic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DD90978-494E-4A05-A5CE-7C9C75100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81500"/>
            <a:ext cx="4438650" cy="1657350"/>
          </a:xfrm>
          <a:prstGeom xmlns:a="http://schemas.openxmlformats.org/drawingml/2006/main" prst="roundRect">
            <a:avLst>
              <a:gd name="adj" fmla="val 4598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E1ED"/>
            </a:solidFill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6d5bb5fd334b45"/>
          <a:stretch xmlns:a="http://schemas.openxmlformats.org/drawingml/2006/main"/>
        </p:blipFill>
        <p:spPr>
          <a:xfrm xmlns:a="http://schemas.openxmlformats.org/drawingml/2006/main">
            <a:off x="6305550" y="4457700"/>
            <a:ext cx="4286250" cy="1504950"/>
          </a:xfrm>
          <a:prstGeom xmlns:a="http://schemas.openxmlformats.org/drawingml/2006/main" prst="rect">
            <a:avLst/>
          </a:prstGeom>
        </p:spPr>
      </p:pic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91AB9C4-8462-4828-AB06-31B253C4C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381500"/>
            <a:ext cx="4438650" cy="1657350"/>
          </a:xfrm>
          <a:prstGeom xmlns:a="http://schemas.openxmlformats.org/drawingml/2006/main" prst="roundRect">
            <a:avLst>
              <a:gd name="adj" fmla="val 4598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E1ED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35B1F8C-F7EE-4A1D-9043-C71E125C2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6115050"/>
            <a:ext cx="857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Kubernetes는 배포 재현성, Prometheus는 운영 판단, Jaeger는 요청 원인 분석을 담당한다.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C10C49D-8FAE-468F-9AE9-8C8173C3D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361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EA0B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OLLY | LLM service observability MVP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8A2A552-C826-4B30-A126-CC09364BD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5795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97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EA0B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06 / 12</a:t>
            </a:r>
          </a:p>
        </p:txBody>
      </p:sp>
    </p:spTree>
    <p:extLst>
      <p:ext uri="{BB962C8B-B14F-4D97-AF65-F5344CB8AC3E}">
        <p14:creationId xmlns:p14="http://schemas.microsoft.com/office/powerpoint/2010/main" val="134897671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1B8A169-6232-4B3F-BE96-F52A0A455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234EFF-86F0-4059-9B2B-DC2CD6E49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2C7A03-4A55-40F9-91E6-34C64D5DC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9375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E8B893-68FE-4906-B6F4-DC5FA9D59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29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데모 또는 데모 영상 구성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C218F1-7077-4AD2-B01F-29CBFD02E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857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데모는 '문제 발생 -&gt; 원인 고립 -&gt; 알림'만 3분 안에 보여준다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ae32cc7bf54d8d"/>
          <a:stretch xmlns:a="http://schemas.openxmlformats.org/drawingml/2006/main"/>
        </p:blipFill>
        <p:spPr>
          <a:xfrm xmlns:a="http://schemas.openxmlformats.org/drawingml/2006/main">
            <a:off x="571500" y="1409700"/>
            <a:ext cx="4000500" cy="31432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F27832-C5AF-4107-B0E4-E8BE135D9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33500"/>
            <a:ext cx="4152900" cy="3295650"/>
          </a:xfrm>
          <a:prstGeom xmlns:a="http://schemas.openxmlformats.org/drawingml/2006/main" prst="roundRect">
            <a:avLst>
              <a:gd name="adj" fmla="val 2312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E1E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A52A21-6CE9-4278-B1BC-4818C15D2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428750"/>
            <a:ext cx="447675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B970CE-366F-409C-908B-EE4537DC6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428750"/>
            <a:ext cx="6667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B0A5F3-C929-45C9-B246-80B623D29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600200"/>
            <a:ext cx="407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0:00-0:40 문제 주입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ACFCD7-ABAB-428E-BA4A-D4FB8FB85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962150"/>
            <a:ext cx="4076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B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Chat UI에서 slow_retrieve, high_token, error 시나리오 요청을 생성한다. 로그인, 회원가입, 입력 검증은 제외한다.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1A2EBE-0073-4BD5-9F57-C381BCA94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667000"/>
            <a:ext cx="447675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67A828-B9A4-4036-8B18-ABD516F2D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667000"/>
            <a:ext cx="6667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482746-D981-4D27-AF61-663709548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838450"/>
            <a:ext cx="407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0:40-1:30 요청 연결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F85B08-A776-485E-B36E-D306325B6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200400"/>
            <a:ext cx="4076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B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응답 metadata의 request_id와 trace_id가 대시보드의 최근 요청 목록에 같은 값으로 나타나는지 확인한다.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20D6FA-7694-4671-8AEC-4653F6897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905250"/>
            <a:ext cx="447675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25F22B-6B6D-49F2-B1FB-2430DFDE2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905250"/>
            <a:ext cx="6667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9525">
            <a:solidFill>
              <a:srgbClr val="0891B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241FF1-AE45-4A4B-A8E7-11E6193C0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076700"/>
            <a:ext cx="407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1:30-2:20 원인 고립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8CB1C1-EEAF-477B-A563-B6AEFAF91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438650"/>
            <a:ext cx="4076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B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slow_retrieve는 retrieve span, high_token은 llm_call span과 token 증가로 설명되는지 보여준다.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898FCF-A32E-4B75-9D8D-CCC04A4EB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143500"/>
            <a:ext cx="447675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147AE6-B6CE-4118-B738-51A80127A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143500"/>
            <a:ext cx="6667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D8A674-5AE3-4ABD-9F0E-D19651469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5314950"/>
            <a:ext cx="407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2:20-3:00 대응 신호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25DF78-6050-41B7-B345-BCAAC9F6A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5676900"/>
            <a:ext cx="4076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B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Prometheus alert와 Discord webhook으로 이상 신호가 운영 채널까지 전달되는 흐름을 마무리한다.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C3850B-5404-4B7F-B66B-98BAA62D7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1695450"/>
            <a:ext cx="1200150" cy="44005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ED7A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FBD8F1-9C4C-44AF-ABE2-6CD38E5E2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962150"/>
            <a:ext cx="8953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0">
            <a:solidFill>
              <a:srgbClr val="FFF7ED"/>
            </a:solidFill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데모 판정 기준</a:t>
            </a:r>
          </a:p>
          <a:p xmlns:a="http://schemas.openxmlformats.org/drawingml/2006/main">
            <a:pPr algn="ctr">
              <a:defRPr sz="1275" b="1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/>
            </a:r>
          </a:p>
          <a:p xmlns:a="http://schemas.openxmlformats.org/drawingml/2006/main">
            <a:pPr algn="ctr">
              <a:defRPr sz="1275" b="1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요청 ID가 유실되지 않는가</a:t>
            </a:r>
          </a:p>
          <a:p xmlns:a="http://schemas.openxmlformats.org/drawingml/2006/main">
            <a:pPr algn="ctr">
              <a:defRPr sz="1275" b="1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/>
            </a:r>
          </a:p>
          <a:p xmlns:a="http://schemas.openxmlformats.org/drawingml/2006/main">
            <a:pPr algn="ctr">
              <a:defRPr sz="1275" b="1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병목 단계가 실제 시나리오와 일치하는가</a:t>
            </a:r>
          </a:p>
          <a:p xmlns:a="http://schemas.openxmlformats.org/drawingml/2006/main">
            <a:pPr algn="ctr">
              <a:defRPr sz="1275" b="1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/>
            </a:r>
          </a:p>
          <a:p xmlns:a="http://schemas.openxmlformats.org/drawingml/2006/main">
            <a:pPr algn="ctr">
              <a:defRPr sz="1275" b="1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실패 요청도 status=error로 남는가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52E6BF7-99DA-4147-9AF7-A0BB1BA26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361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EA0B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OLLY | LLM service observability MVP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0C4EE8F-92D6-48A9-A671-688A43E57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5795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97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EA0B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07 / 12</a:t>
            </a:r>
          </a:p>
        </p:txBody>
      </p:sp>
    </p:spTree>
    <p:extLst>
      <p:ext uri="{BB962C8B-B14F-4D97-AF65-F5344CB8AC3E}">
        <p14:creationId xmlns:p14="http://schemas.microsoft.com/office/powerpoint/2010/main" val="136405685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F4F56AC-CE68-4ED4-9DA6-AA6DE3533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2AA0CB-182A-402D-86FD-E5F808A7B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831914-81B6-43BA-8F29-E867C4D79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9375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FB43DC-2C1D-49C9-9FC3-E7508BEEF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29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측정 결과 및 검증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951E4F-1BC2-405E-9797-FB6ED52B0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857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검증 결과는 병목을 의도한 단계에서 분리해 보여줬다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B71C8B-1749-4CAE-8DC0-F464CA966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668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p50 latency by scenario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9F39D1-38B3-4AA1-9EF4-8F8CA6A8B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89744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normal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E2DFD2-A40A-497F-9993-C7D608409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1924050"/>
            <a:ext cx="5334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7"/>
          </a:solidFill>
          <a:ln xmlns:a="http://schemas.openxmlformats.org/drawingml/2006/main" w="9525">
            <a:solidFill>
              <a:srgbClr val="E8EEF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48B6E9-EAFE-435F-BC6C-17F98B43F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1924050"/>
            <a:ext cx="212723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98AE0A-3D88-4898-A09C-BF0655934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88595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89744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6A34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1.47s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2AE5FF-AAAA-45A9-A229-87B132B9B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0505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89744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slow_retrieve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8B7D96-7C73-49B3-A2A6-F76B82C19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343150"/>
            <a:ext cx="5334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7"/>
          </a:solidFill>
          <a:ln xmlns:a="http://schemas.openxmlformats.org/drawingml/2006/main" w="9525">
            <a:solidFill>
              <a:srgbClr val="E8EEF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26F820-B640-4BAE-AA3D-ABABDA44A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343150"/>
            <a:ext cx="573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9525">
            <a:solidFill>
              <a:srgbClr val="0891B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C03764-543F-4264-AE09-4C411D5D2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30505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89744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891B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3.96s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BB3AF3-36BB-42E7-83DB-968C01B0A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2415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89744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slow_llm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0A40C3-510E-47FB-BC3A-E54F5F44F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762250"/>
            <a:ext cx="5334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7"/>
          </a:solidFill>
          <a:ln xmlns:a="http://schemas.openxmlformats.org/drawingml/2006/main" w="9525">
            <a:solidFill>
              <a:srgbClr val="E8EEF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5D8BBD-9B4B-444E-8028-9A4BE99B8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762250"/>
            <a:ext cx="322703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8AEC76-4EC2-402B-BD83-74889DD47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72415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89744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2.23s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3CAD72-A768-4DF2-B3E2-80AD5089B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4325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89744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high_token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7196F7-9CF2-40C2-9407-10D25253C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181350"/>
            <a:ext cx="5334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7"/>
          </a:solidFill>
          <a:ln xmlns:a="http://schemas.openxmlformats.org/drawingml/2006/main" w="9525">
            <a:solidFill>
              <a:srgbClr val="E8EEF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48A581-35D2-4AC1-B17E-B7A048B35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181350"/>
            <a:ext cx="5004062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40DCCD-5633-4F2B-9E05-78EFCA22F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14325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89744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34.58s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5B9268-6DCB-4A86-B4A6-2C53FDDE1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6235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89744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error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BDE6DB9-F205-4195-983D-B3C3A7CFA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600450"/>
            <a:ext cx="5334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7"/>
          </a:solidFill>
          <a:ln xmlns:a="http://schemas.openxmlformats.org/drawingml/2006/main" w="9525">
            <a:solidFill>
              <a:srgbClr val="E8EEF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CEBD298-3AEF-4E9B-A1A0-1E14CA5E3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600450"/>
            <a:ext cx="285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2753D5C-B065-451D-9133-A17AEE1EB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56235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89744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D9770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0.15s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3EAFCD7-B7B1-4D2B-ACEB-0B71A2B49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562100"/>
            <a:ext cx="32385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EFE5EE5-1A2E-4510-88E2-8541ECF1A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714500"/>
            <a:ext cx="2895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EA0B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slow_retrieve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E2042E2-C8B3-4801-9228-FA057FBB9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924050"/>
            <a:ext cx="2895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891B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1.80s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3C78564-E4AC-4E15-8C6E-1919E60C1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286000"/>
            <a:ext cx="2895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B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retrieve span p50, 정상 대비 약 12배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E7B91D2-7090-4EDF-9AE2-36E717C50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800350"/>
            <a:ext cx="32385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D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398234F-387E-4DFD-A5F6-4CE151A4F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952750"/>
            <a:ext cx="2895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EA0B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slow_llm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95A9E2B-B596-411A-AE23-AC8265C3A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162300"/>
            <a:ext cx="2895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1.99s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D54620F-ED5A-4B4A-B939-DDBBDEAAE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524250"/>
            <a:ext cx="2895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B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llm_call 구간이 지연 대부분 차지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44A4F3D-20C6-4F3E-AA4F-44056936C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38600"/>
            <a:ext cx="32385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D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46C6514-45AF-41AC-8E12-57FD6BB01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191000"/>
            <a:ext cx="2895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EA0B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high_token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F9E7BD9-D6DE-45F0-BD31-C4CE504A6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400550"/>
            <a:ext cx="2895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457개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8285EB0-F8C9-4201-99C1-6182E00C1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762500"/>
            <a:ext cx="2895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B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평균 토큰, p50 34.58초로 증가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5D51339-AEB5-4CFF-8418-83F8A4105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57800"/>
            <a:ext cx="98107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BBF7D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98E9002-15FB-4421-88BD-AC15D5DA2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448300"/>
            <a:ext cx="9124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0">
            <a:solidFill>
              <a:srgbClr val="ECFDF5"/>
            </a:solidFill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78947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결론: OLLY는 전체 latency만 보여주는 것이 아니라 retrieve와 llm_call 중 어디가 문제인지 운영자가 구분하게 만든다.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611C17E-8D02-48C5-BF0F-BC4A2F26C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361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EA0B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OLLY | LLM service observability MVP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740AA59-3496-48D9-BA3A-4DA0A4DA8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5795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97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EA0B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08 / 12</a:t>
            </a:r>
          </a:p>
        </p:txBody>
      </p:sp>
    </p:spTree>
    <p:extLst>
      <p:ext uri="{BB962C8B-B14F-4D97-AF65-F5344CB8AC3E}">
        <p14:creationId xmlns:p14="http://schemas.microsoft.com/office/powerpoint/2010/main" val="125447336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CC1AB24-D782-4F83-B149-248D0D1A0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E0AE82-0CB3-49F3-B790-249E28F3F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9C6795-53C7-4D78-9A5C-D0936044A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9375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CFB678-B24E-418D-9704-66609BDF9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29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검증 방식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5EDAA5-4DAA-4492-95AB-9E037C08F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857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End-to-End 검증은 UI, Prometheus, Jaeger를 교차 확인했다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123e951de541b5"/>
          <a:stretch xmlns:a="http://schemas.openxmlformats.org/drawingml/2006/main"/>
        </p:blipFill>
        <p:spPr>
          <a:xfrm xmlns:a="http://schemas.openxmlformats.org/drawingml/2006/main">
            <a:off x="552450" y="1390650"/>
            <a:ext cx="4305300" cy="35814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D912C8-B951-438C-9269-28ABB89B4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14450"/>
            <a:ext cx="4457700" cy="3733800"/>
          </a:xfrm>
          <a:prstGeom xmlns:a="http://schemas.openxmlformats.org/drawingml/2006/main" prst="roundRect">
            <a:avLst>
              <a:gd name="adj" fmla="val 2041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E1ED"/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b2fcfd783e42b4"/>
          <a:stretch xmlns:a="http://schemas.openxmlformats.org/drawingml/2006/main"/>
        </p:blipFill>
        <p:spPr>
          <a:xfrm xmlns:a="http://schemas.openxmlformats.org/drawingml/2006/main">
            <a:off x="5391150" y="1390650"/>
            <a:ext cx="4305300" cy="15049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FED7D0-5C5F-4A42-BAFE-005136A65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314450"/>
            <a:ext cx="4457700" cy="1657350"/>
          </a:xfrm>
          <a:prstGeom xmlns:a="http://schemas.openxmlformats.org/drawingml/2006/main" prst="roundRect">
            <a:avLst>
              <a:gd name="adj" fmla="val 4598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E1ED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dabe9792ae4044"/>
          <a:stretch xmlns:a="http://schemas.openxmlformats.org/drawingml/2006/main"/>
        </p:blipFill>
        <p:spPr>
          <a:xfrm xmlns:a="http://schemas.openxmlformats.org/drawingml/2006/main">
            <a:off x="5391150" y="3371850"/>
            <a:ext cx="4305300" cy="20002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5AC09F-13E1-4A28-9E79-45F755158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295650"/>
            <a:ext cx="4457700" cy="2152650"/>
          </a:xfrm>
          <a:prstGeom xmlns:a="http://schemas.openxmlformats.org/drawingml/2006/main" prst="roundRect">
            <a:avLst>
              <a:gd name="adj" fmla="val 354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E1E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627673-5C5B-46F2-B574-1F8CA772A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2600"/>
            <a:ext cx="23812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C8DEFB-DD54-4DF7-9811-2D855DD68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2600"/>
            <a:ext cx="666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B4BC3D-AEA3-4A08-B19E-B13DC6052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9595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10회 반복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6002A6-CC58-477D-A0DE-3387075D6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4360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79957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B6B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5개 시나리오 반복 실행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844A97-1627-4CE8-A260-E627626C9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562600"/>
            <a:ext cx="23812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54CA4A-15FD-4E7E-A80F-9E1CD294F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562600"/>
            <a:ext cx="666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9525">
            <a:solidFill>
              <a:srgbClr val="0891B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A8856D-79F4-4561-871D-D4AEC877A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569595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891B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ID 연계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AD0DE1-728A-4023-B495-DD7C7921A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594360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79957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B6B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request_id와 trace_id 유지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754FA3-11C0-49F2-9DE3-478D323D2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562600"/>
            <a:ext cx="23812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6126E8-1268-4CAE-A22E-ACB8AD2E5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562600"/>
            <a:ext cx="666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B59384-C208-42CB-A85D-4DA950329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69595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A34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시나리오 일치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D1F303-CED0-4044-BDC2-2E3B68264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94360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79957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B6B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metric 추세와 span 구조 일치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A8CB7F-75B3-4AB0-9CC1-FD4F2BC02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562600"/>
            <a:ext cx="23812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0B7BA1-1150-4378-BE35-F191350BF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562600"/>
            <a:ext cx="666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0A5152-B781-4937-86C7-63B966473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69595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실패 보존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5E5C673-CAE3-4FA4-9086-EA29FB3C1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94360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79957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B6B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error도 status=error로 기록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AE8A22F-E19B-4F21-9B67-AD65E29AB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361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EA0B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OLLY | LLM service observability MVP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38E291E-3F3E-48AF-979C-4A02A50F5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5795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97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EA0B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09 / 12</a:t>
            </a:r>
          </a:p>
        </p:txBody>
      </p:sp>
    </p:spTree>
    <p:extLst>
      <p:ext uri="{BB962C8B-B14F-4D97-AF65-F5344CB8AC3E}">
        <p14:creationId xmlns:p14="http://schemas.microsoft.com/office/powerpoint/2010/main" val="197177954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6814865-1A05-4EE9-989F-A1C6A313D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E7C5CF-7C28-4FBF-90DC-8B4BA06CA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DD3470-8A8C-40D9-A5BD-0C16ADA50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9375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6843EC-3771-4C28-84D3-254A3408F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29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비용, 토큰, 병목 분석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056F2A-7EDF-4018-98D3-27FAECDE2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857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비용 관측은 외부 API 과금 없이도 같은 metric 체계를 검증했다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3C1BE9-139F-4FBA-BFBA-8474B0F50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49530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A0FDDF-C432-40E7-AEED-C07B9830B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5260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EA0B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local infra cost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D50D53-AC3F-4D2A-8830-8A39CA798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57400"/>
            <a:ext cx="4381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5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compute_seconds / 3600</a:t>
            </a:r>
          </a:p>
          <a:p xmlns:a="http://schemas.openxmlformats.org/drawingml/2006/main">
            <a:pPr algn="l">
              <a:defRPr sz="1500" b="1">
                <a:solidFill>
                  <a:srgbClr val="1725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* LOCAL_COMPUTE_HOURLY_USD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EDAC36-310E-43F2-AC9E-B1BD45052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95550"/>
            <a:ext cx="438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B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검증 환경: cpu, 0.05 USD/hour, gemma3:1b token 단가는 0으로 설정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DB6657-D7C7-4042-914F-64EC7EACE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524000"/>
            <a:ext cx="39052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982E76-94AB-46A3-AE41-49F96D17D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52400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C896DB-A7CD-4B78-85E4-8232203D9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95450"/>
            <a:ext cx="3505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외부 LLM으로 확장 가능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21F043-A698-4252-B65D-EEB5A2950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057400"/>
            <a:ext cx="3505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B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현재는 로컬 추론 시간 기반 비용을 썼지만, 외부 API 전환 시 token 단가 테이블만 바꾸면 cost_usd metric 체계를 재사용할 수 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947A87-FFDB-42CC-AE10-0701B4581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14700"/>
            <a:ext cx="10287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554"/>
          </a:solidFill>
          <a:ln xmlns:a="http://schemas.openxmlformats.org/drawingml/2006/main" w="5715">
            <a:solidFill>
              <a:srgbClr val="D8E1E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1CA887-D76C-4CAD-B4AD-D0A14C29B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81375"/>
            <a:ext cx="3276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554"/>
          </a:solidFill>
          <a:ln xmlns:a="http://schemas.openxmlformats.org/drawingml/2006/main" w="0">
            <a:solidFill>
              <a:srgbClr val="172554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Metric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29FDAF-3C08-45F7-A6C4-F1BC499FB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381375"/>
            <a:ext cx="6705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554"/>
          </a:solidFill>
          <a:ln xmlns:a="http://schemas.openxmlformats.org/drawingml/2006/main" w="0">
            <a:solidFill>
              <a:srgbClr val="172554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의미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C92A7F-A857-43C0-8D06-593926B38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52850"/>
            <a:ext cx="10287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E1E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F8BB2C-B07D-492E-BD74-46599D4F1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19525"/>
            <a:ext cx="3276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olly_request_duration_seconds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2B6AF6-1503-473A-8BCA-56F6DB583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819525"/>
            <a:ext cx="6705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요청 전체 지연 시간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B1E762-52EC-4D90-8BAB-206C9549F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91000"/>
            <a:ext cx="10287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5715">
            <a:solidFill>
              <a:srgbClr val="D8E1E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74A818-AFF9-4F9D-B3F7-0EBE7D391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57675"/>
            <a:ext cx="3276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olly_stage_duration_seconds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D58A94-A3E7-4D03-84D9-405EC31FA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257675"/>
            <a:ext cx="6705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retrieve, llm_call, postprocess 단계별 분포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BCD695-0057-4CD3-BF7F-4DF0E1E67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29150"/>
            <a:ext cx="10287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E1E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8AEE6C-753D-46AD-8807-B7194E4C9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95825"/>
            <a:ext cx="3276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olly_tokens_total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1FF8E81-2F4D-4DD8-9A59-26F092D33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695825"/>
            <a:ext cx="6705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입력/출력 토큰 사용량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73C5BE4-BEC1-4961-AD13-0524418C4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67300"/>
            <a:ext cx="10287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5715">
            <a:solidFill>
              <a:srgbClr val="D8E1E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D38F504-6C9C-4269-92E9-FAC3817F3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33975"/>
            <a:ext cx="3276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olly_cost_usd_total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5792EF5-9384-4BFE-85F4-41D665DBF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133975"/>
            <a:ext cx="6705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토큰 비용과 로컬 인프라 비용 합산 추정치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D57B501-0A22-4961-9150-EF89794AD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05450"/>
            <a:ext cx="10287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E1E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8512B36-DE7D-4953-8655-66DC8DCD0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572125"/>
            <a:ext cx="3276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olly_errors_total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02ED1D9-2EF7-463A-9655-E6C07A1FE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572125"/>
            <a:ext cx="6705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실패 요청 수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4BAF570-995B-4EA2-9BC4-E1D72E3C1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361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EA0B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OLLY | LLM service observability MVP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27CB6C7-7CB1-4564-861C-AA2074A0F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5795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97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EA0B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10 / 12</a:t>
            </a:r>
          </a:p>
        </p:txBody>
      </p:sp>
    </p:spTree>
    <p:extLst>
      <p:ext uri="{BB962C8B-B14F-4D97-AF65-F5344CB8AC3E}">
        <p14:creationId xmlns:p14="http://schemas.microsoft.com/office/powerpoint/2010/main" val="989941512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6EBCE8C-4C93-42CE-B977-5E55AF87A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21B2FA-9059-4074-A14A-17E1D47AD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76ACFF-5507-4513-9F79-47C81A126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9375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B052B8-8B9E-4689-A8D0-20B2130B9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29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한계 및 향후 과제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0A8861-B573-4207-A8C5-BC4B6165D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857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한계는 기능 부족보다 운영 환경 전환 조건에 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39E79E-AE94-48D0-92EE-D6EF6921A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323850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3EE0F1-F771-4586-B945-F0EDDBE9E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053BA0-B732-4BEB-8266-46DF81CB2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95450"/>
            <a:ext cx="2838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현재 한계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409140-3DB5-443D-A56C-5A20CB0A3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57400"/>
            <a:ext cx="28384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B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로컬 SLM 기반 MVP이므로 외부 API 비용, 장기 저장, 권한 관리, 멀티테넌시를 실제 운영 수준으로 검증하지는 않았다.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C10730-C16C-48CD-847E-0E0BA8E4A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524000"/>
            <a:ext cx="323850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D2856B-BE76-498B-92AA-141E9E82F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524000"/>
            <a:ext cx="66675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6C8C20-C0E7-4F6D-A650-0EE46ED79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695450"/>
            <a:ext cx="2838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보안 기준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60E760-D9EC-4E71-A015-0F6356127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057400"/>
            <a:ext cx="28384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B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raw prompt 저장은 위험하다. prompt_template_id, prompt_length, token count, 익명화 user/org id 중심의 메타데이터 정책이 필요하다.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A21086-D619-4B3F-93B7-BE3F9A302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524000"/>
            <a:ext cx="323850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EB12B3-4173-4B00-B406-FD73F19F7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524000"/>
            <a:ext cx="66675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9525">
            <a:solidFill>
              <a:srgbClr val="0891B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1FC375-1615-43EA-ACDF-16FE8C946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95450"/>
            <a:ext cx="2838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품질 평가 확장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E263B1-CCC5-4329-A786-A5D56438A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57400"/>
            <a:ext cx="28384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B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RAG 근거 일치도, 인용 검증, LLM-as-a-judge, 회귀 평가 데이터셋은 향후 Semantic Monitoring 영역으로 확장한다.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69F17E-750F-45FD-87C3-E2932783D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90950"/>
            <a:ext cx="96393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506E4F-925C-4924-A383-BE3455DB0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9814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EFF6FF"/>
            </a:solidFill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프로덕션 전환 과제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51C1AC-0BA6-4DA2-8ED1-FD5C0525F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343400"/>
            <a:ext cx="876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EFF6FF"/>
            </a:solidFill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79365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Ingress/TLS, Secret 관리, RBAC, 감사 로그, 장기 metric 저장, SLO 기준, 조직별 비용 분리, 커스텀 alert rule 고도화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E759DD-0C2E-4224-8F71-C9DD7138D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295900"/>
            <a:ext cx="8572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883EC4-DB5E-4F39-A501-7EF407BDB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410200"/>
            <a:ext cx="815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6862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하지만 request_id/trace_id 기반 구조는 그대로 유지되며, 새 평가 지표는 같은 관측 단위에 추가하면 된다.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2A6D6C-6376-4CF3-955E-6D7B7CDFD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361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EA0B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OLLY | LLM service observability MVP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3A3206-2E16-43DC-B1F2-263DF9960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5795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97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EA0B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11 / 12</a:t>
            </a:r>
          </a:p>
        </p:txBody>
      </p:sp>
    </p:spTree>
    <p:extLst>
      <p:ext uri="{BB962C8B-B14F-4D97-AF65-F5344CB8AC3E}">
        <p14:creationId xmlns:p14="http://schemas.microsoft.com/office/powerpoint/2010/main" val="2067379818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7C0B26B-23F8-4032-8BA9-FAC8EC782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554"/>
          </a:solidFill>
          <a:ln xmlns:a="http://schemas.openxmlformats.org/drawingml/2006/main" w="0">
            <a:solidFill>
              <a:srgbClr val="17255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15A918-C42A-426A-9092-B1B206DCE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52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554"/>
          </a:solidFill>
          <a:ln xmlns:a="http://schemas.openxmlformats.org/drawingml/2006/main" w="0">
            <a:solidFill>
              <a:srgbClr val="172554"/>
            </a:solidFill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3C5F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마무리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03A91A-4ABC-479F-B326-07F82A2EF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95400"/>
            <a:ext cx="7810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554"/>
          </a:solidFill>
          <a:ln xmlns:a="http://schemas.openxmlformats.org/drawingml/2006/main" w="0">
            <a:solidFill>
              <a:srgbClr val="172554"/>
            </a:solidFill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OLLY가 만든 것은 챗봇이 아니라</a:t>
            </a:r>
          </a:p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LLM 서비스를 운영할 수 있게 하는 관측성 계층이다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6C3CB8-2BC9-496C-BD83-C6EF9FC3A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76550"/>
            <a:ext cx="9715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E3A8A"/>
          </a:solidFill>
          <a:ln xmlns:a="http://schemas.openxmlformats.org/drawingml/2006/main" w="9525">
            <a:solidFill>
              <a:srgbClr val="3156B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D986BA-6E48-4C01-A7BD-6E27602BB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43250"/>
            <a:ext cx="9105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0">
            <a:solidFill>
              <a:srgbClr val="1E3A8A"/>
            </a:solidFill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74074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사용자 요청 -&gt; trace/metric 수집 -&gt; 대시보드/분석 챗봇 -&gt; alert 대응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74A4A2-4478-4F92-A87A-251F65DFB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00550"/>
            <a:ext cx="8191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EB75F6-637C-4E5E-869E-6099263AA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67225"/>
            <a:ext cx="6667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70513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문제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2B40CE-5BD9-4E32-8B7B-61E111915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400550"/>
            <a:ext cx="2381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554"/>
          </a:solidFill>
          <a:ln xmlns:a="http://schemas.openxmlformats.org/drawingml/2006/main" w="0">
            <a:solidFill>
              <a:srgbClr val="172554"/>
            </a:solidFill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2E8F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LLM 지연과 비용의 원인을 결과만 보고 알 수 없음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B63235-38A0-473A-843E-5AFEA0565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400550"/>
            <a:ext cx="8191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A01817-BD54-45E2-8757-CAED8FE8B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467225"/>
            <a:ext cx="6667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70513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해결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73875D-A07D-4B4C-8FEE-8F836D624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400550"/>
            <a:ext cx="2381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554"/>
          </a:solidFill>
          <a:ln xmlns:a="http://schemas.openxmlformats.org/drawingml/2006/main" w="0">
            <a:solidFill>
              <a:srgbClr val="172554"/>
            </a:solidFill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2E8F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request_id와 trace_id 중심의 End-to-End 관측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B931E7-CA97-48EF-8A5D-E2B177C55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400550"/>
            <a:ext cx="8191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68A166-5D7D-4A93-832E-26D723465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467225"/>
            <a:ext cx="6667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70513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검증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78E7D3-F951-491B-8BFA-3910D23D1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400550"/>
            <a:ext cx="2381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554"/>
          </a:solidFill>
          <a:ln xmlns:a="http://schemas.openxmlformats.org/drawingml/2006/main" w="0">
            <a:solidFill>
              <a:srgbClr val="172554"/>
            </a:solidFill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2E8F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5개 시나리오 10회 반복, 병목 span과 metric 일치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C05A1D-BF5D-4792-8C35-4108FDB96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695950"/>
            <a:ext cx="9486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554"/>
          </a:solidFill>
          <a:ln xmlns:a="http://schemas.openxmlformats.org/drawingml/2006/main" w="0">
            <a:solidFill>
              <a:srgbClr val="172554"/>
            </a:solidFill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94203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DDE7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CNCF 표준 도구로 LLM 운영 문제를 추적 가능한 데이터 문제로 바꾼 것이 이 프로젝트의 의미입니다.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8C0684-AAEC-4E16-9C56-DD90C9B1D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361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554"/>
          </a:solidFill>
          <a:ln xmlns:a="http://schemas.openxmlformats.org/drawingml/2006/main" w="0">
            <a:solidFill>
              <a:srgbClr val="172554"/>
            </a:solidFill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BD5E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OLLY | LLM service observability MVP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F35E33-B70D-448D-AE73-D1A58A94F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5795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554"/>
          </a:solidFill>
          <a:ln xmlns:a="http://schemas.openxmlformats.org/drawingml/2006/main" w="0">
            <a:solidFill>
              <a:srgbClr val="172554"/>
            </a:solidFill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97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CBD5E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12 / 12</a:t>
            </a:r>
          </a:p>
        </p:txBody>
      </p:sp>
    </p:spTree>
    <p:extLst>
      <p:ext uri="{BB962C8B-B14F-4D97-AF65-F5344CB8AC3E}">
        <p14:creationId xmlns:p14="http://schemas.microsoft.com/office/powerpoint/2010/main" val="10028830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2026-06-03T13:39:43.2560000Z</dcterms:created>
  <dcterms:modified xsi:type="dcterms:W3CDTF">2026-06-03T13:39:43.2560000Z</dcterms:modified>
</coreProperties>
</file>