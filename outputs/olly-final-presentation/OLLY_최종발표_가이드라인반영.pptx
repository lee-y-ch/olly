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4937760" cy="4023360"/>
          </a:xfrm>
          <a:prstGeom prst="ellipse">
            <a:avLst/>
          </a:prstGeom>
          <a:solidFill>
            <a:srgbClr val="164E63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5669280" cy="4480560"/>
          </a:xfrm>
          <a:prstGeom prst="ellipse">
            <a:avLst/>
          </a:prstGeom>
          <a:solidFill>
            <a:srgbClr val="4C1D95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804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오픈소스 기반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 관측성 MVP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DD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지연 · 병목 · 실패를 request_id 와 trace_id 로 추적하는 관측성 플랫폼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621792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1746504" y="2926080"/>
            <a:ext cx="1207008" cy="2286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297637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2871216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3995928" y="29260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29763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8503920" y="621792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68512" y="7132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AVG LATENCY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8668512" y="896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1.88s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78440" y="7955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8732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↗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503920" y="146304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68512" y="15544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SUCCESS RATE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8668512" y="1737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75.0%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78440" y="1636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714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503920" y="2304288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D8E2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68512" y="239572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TOTAL COST</a:t>
            </a:r>
            <a:endParaRPr lang="en-US" sz="520" dirty="0"/>
          </a:p>
        </p:txBody>
      </p:sp>
      <p:sp>
        <p:nvSpPr>
          <p:cNvPr id="28" name="Text 26"/>
          <p:cNvSpPr/>
          <p:nvPr/>
        </p:nvSpPr>
        <p:spPr>
          <a:xfrm>
            <a:off x="8668512" y="25786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$0.00011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78440" y="24780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25557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58784" y="34015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RECENT TRACES</a:t>
            </a:r>
            <a:endParaRPr lang="en-US" sz="520" dirty="0"/>
          </a:p>
        </p:txBody>
      </p:sp>
      <p:sp>
        <p:nvSpPr>
          <p:cNvPr id="32" name="Shape 30"/>
          <p:cNvSpPr/>
          <p:nvPr/>
        </p:nvSpPr>
        <p:spPr>
          <a:xfrm>
            <a:off x="8503920" y="3611880"/>
            <a:ext cx="23317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2F1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68512" y="373075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req_6cc69475</a:t>
            </a:r>
            <a:endParaRPr lang="en-US" sz="640" dirty="0"/>
          </a:p>
        </p:txBody>
      </p:sp>
      <p:sp>
        <p:nvSpPr>
          <p:cNvPr id="34" name="Text 32"/>
          <p:cNvSpPr/>
          <p:nvPr/>
        </p:nvSpPr>
        <p:spPr>
          <a:xfrm>
            <a:off x="10122408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570" dirty="0"/>
          </a:p>
        </p:txBody>
      </p:sp>
      <p:sp>
        <p:nvSpPr>
          <p:cNvPr id="35" name="Text 33"/>
          <p:cNvSpPr/>
          <p:nvPr/>
        </p:nvSpPr>
        <p:spPr>
          <a:xfrm>
            <a:off x="8668512" y="39410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req_b7a3a1ba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10058400" y="394106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success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621792" y="6089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오픈소스SW분석 (클라우드) · 5조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21792" y="62910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최호준(32215116) | 이용찬(32213336) | 박주희(32221902) | 조하은(32234364)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서비스는 일반 API와 다르다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/chat 요청이라도 프롬프트 · 검색 문맥 · 모델 호출 · 출력 토큰에 따라 비용과 지연이 달라진다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96112" y="187452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0848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APM 모니터링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25420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61975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64208" y="253288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 Status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664208" y="270662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 / 실패 여부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234440" y="3044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1226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↘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64208" y="30358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664208" y="320954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응답 시간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1234440" y="3547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6255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64208" y="353872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rate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664208" y="371246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오류 비율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898648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874520"/>
            <a:ext cx="44805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36208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운영에 필요한 관측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25968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746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↘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2280" y="2679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229600" y="25968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6746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641080" y="2679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400800" y="3118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958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12280" y="32004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Cost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8229600" y="3118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1958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41080" y="32004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duration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400800" y="3639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717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12280" y="3721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8229600" y="3639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717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641080" y="3721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298448" y="5047488"/>
            <a:ext cx="8686800" cy="384048"/>
          </a:xfrm>
          <a:prstGeom prst="roundRect">
            <a:avLst>
              <a:gd name="adj" fmla="val 9524"/>
            </a:avLst>
          </a:prstGeom>
          <a:solidFill>
            <a:srgbClr val="201B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08760" y="5175504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 200이어도 운영 관점에서는 성공이 아니다. 왜 느린지, 왜 비용이 늘었는지, 어느 단계가 병목인지 알 수 있어야 한다.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/ 14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발표 이후 변화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중심 구조에서 동작하는 MVP로 좁혔다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가이드라인에 맞춰 최종 발표에서는 변경점과 설계 판단을 명확히 분리해 설명한다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840480" y="1627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발표 당시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0" y="1627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구현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4884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64208" y="213055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수준의 관측성 구조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074920" y="2221992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53328" y="211226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샘플 서비스 + 실제 관측 파이프라인 구현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9FB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80720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664208" y="27889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LLM API 연동 검토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74920" y="2880360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053328" y="2770632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비용과 재현성 때문에 Ollama gemma3:1b 로컬 SLM 선택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914400" y="3310128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4655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64208" y="34472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구상 중심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074920" y="3538728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053328" y="342900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Jaeger · Prometheus · Discord 알림 연결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4400" y="3968496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9FB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12394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64208" y="4105656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모니터링 목표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74920" y="4197096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053328" y="408736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 기반 End-to-End 추적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914400" y="4626864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78231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664208" y="4764024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부가 기능 후보 다수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074920" y="4855464"/>
            <a:ext cx="731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053328" y="474573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지연 · 토큰 · 실패 · 알림으로 MVP 범위 축소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/ 14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OLLY의 목표: LLM 운영 질문에 답하기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채점기가 아니라, 운영자가 실제로 궁금해하는 질문에 답하는 관측성 MVP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45262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901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운영자가 던지는 질문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14300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09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4480" y="2395728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어제 왜 비용이 증가했는가?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1143000" y="28620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9397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기능이 토큰을 많이 쓰는가?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143000" y="33924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47014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54480" y="3456432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지연이 retrieve 때문인가, llm_call 때문인가?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1143000" y="3922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00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3986784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요청은 어떤 trace 에서 발생했는가?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1143000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30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?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4480" y="4517136"/>
            <a:ext cx="3383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대시보드를 보지 않아도 이상 신호를 받을 수 있는가?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6400800" y="1664208"/>
            <a:ext cx="4434840" cy="3886200"/>
          </a:xfrm>
          <a:prstGeom prst="roundRect">
            <a:avLst>
              <a:gd name="adj" fmla="val 1412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48272" y="1901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MVP 목표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784848" y="2377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4551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42048" y="245973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· 기능별 비용 가시화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84848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31135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42048" y="3118104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병목 추적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784848" y="36941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771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242048" y="3776472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알림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84848" y="43525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4430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242048" y="443484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 운영 흐름 연결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/ 14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아키텍처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요청 처리 · 관측 데이터 수집 · 운영 분석을 분리했다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로직과 관측 파이프라인을 독립적으로 확장하기 위한 구조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94360" y="1673352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7FE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Interface &amp; Rule Input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187952" y="1673352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 Application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7891272" y="1673352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5864" y="18379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Observability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960120" y="2267712"/>
            <a:ext cx="12344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24712" y="24505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542032" y="212140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97480" y="23317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2688336" y="25420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생성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2212848" y="2514600"/>
            <a:ext cx="329184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53712" y="2157984"/>
            <a:ext cx="1051560" cy="612648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0872" y="2340864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/chat API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718304" y="251460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trace_id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3685032" y="2514600"/>
            <a:ext cx="8686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187452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200253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291072" y="218541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/ 문맥 준비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5605272" y="2459736"/>
            <a:ext cx="539496" cy="-338328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44768" y="274320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28712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291072" y="305409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Ollama gemma3:1b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5605272" y="2459736"/>
            <a:ext cx="539496" cy="530352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44768" y="361188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373989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postprocess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291072" y="3922776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정리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5605272" y="2459736"/>
            <a:ext cx="539496" cy="1399032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709160" y="4526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4663440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19088" y="45262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37960" y="467258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OTel Collector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074920" y="2779776"/>
            <a:ext cx="0" cy="1746504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80760" y="4782312"/>
            <a:ext cx="338328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449056" y="2395728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705088" y="255117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API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302752" y="3401568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D1FAE5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631936" y="354787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8732520" y="37490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metric · alert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8302752" y="4462272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814816" y="460857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8668512" y="480974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trace · span</a:t>
            </a:r>
            <a:endParaRPr lang="en-US" sz="540" dirty="0"/>
          </a:p>
        </p:txBody>
      </p:sp>
      <p:sp>
        <p:nvSpPr>
          <p:cNvPr id="51" name="Shape 49"/>
          <p:cNvSpPr/>
          <p:nvPr/>
        </p:nvSpPr>
        <p:spPr>
          <a:xfrm>
            <a:off x="7562088" y="4782312"/>
            <a:ext cx="740664" cy="-109728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562088" y="4782312"/>
            <a:ext cx="740664" cy="-3657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098280" y="3968496"/>
            <a:ext cx="0" cy="493776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60120" y="41605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207008" y="431596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 Rule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743200" y="4160520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871216" y="4315968"/>
            <a:ext cx="795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AlertStore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2377440" y="4407408"/>
            <a:ext cx="36576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516368" y="548640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699248" y="5614416"/>
            <a:ext cx="9601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AlertEvaluator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9281160" y="548640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 w="10160">
            <a:solidFill>
              <a:srgbClr val="FDA4AF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482328" y="5614416"/>
            <a:ext cx="10607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Webhook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3794760" y="4407408"/>
            <a:ext cx="3721608" cy="1261872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842248" y="5687568"/>
            <a:ext cx="438912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67" name="Text 65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/ 14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접목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프로젝트가 실제로 어떤 역할을 했는가?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오픈소스 도구에 실제 운영 역할을 부여했다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26464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스택 배포와 서비스 연결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 기반 재현 가능한 실행 환경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926080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4176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90672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/chat 요청과 내부 stage 계측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3090672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trace_id 기반 요청 흐름 생성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193792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61888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58384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58384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· error metric 저장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5358384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지표 조회 및 alert rule 근거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7461504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626096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26096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trace 시각화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7626096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· llm_call · postprocess 병목 확인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9729216" y="1847088"/>
            <a:ext cx="18653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97312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97312" y="22265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893808" y="26334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893808" y="2971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 metric 시각화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9893808" y="34747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변화 확인용 보조 대시보드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932688" y="4828032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946904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요청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2212848" y="5001768"/>
            <a:ext cx="53035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88920" y="482803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4946904"/>
            <a:ext cx="1499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OpenTelemetry 계측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4480560" y="5001768"/>
            <a:ext cx="62179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66360" y="4828032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9512" y="4946904"/>
            <a:ext cx="2340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 metric · Jaeger trace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7699248" y="5001768"/>
            <a:ext cx="969264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732520" y="4828032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05672" y="4946904"/>
            <a:ext cx="2185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Grafana · Discord alert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/ 14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설계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하나를 끝까지 잇는 기준: request_id 와 trace_id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MVP에서는 요청 내부 단계를 공통 stage label로 기록해 병목을 구분했다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내부 처리 구간 예시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629400" y="16642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OLLY에서 사용한 관측 stage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95728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search_docs / vector_search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09160" y="23134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14" name="Shape 12"/>
          <p:cNvSpPr/>
          <p:nvPr/>
        </p:nvSpPr>
        <p:spPr>
          <a:xfrm>
            <a:off x="4251960" y="2459736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224028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386584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5840" y="3081528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236976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call_openai / call_gemini / local_model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4251960" y="3300984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3081528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3227832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05840" y="3922776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078224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format_answer / validation / safety_filter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09160" y="39959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계측 시</a:t>
            </a:r>
            <a:endParaRPr lang="en-US" sz="570" dirty="0"/>
          </a:p>
          <a:p>
            <a:pPr algn="ctr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label로 기록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51960" y="4142232"/>
            <a:ext cx="1874520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922776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4069080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postprocess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87552" y="4983480"/>
            <a:ext cx="8778240" cy="36576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102352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데이터  request_id · trace_id · latency · input/output tokens · cost · status · stage durations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1005840" y="571500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적용 시 기존 코드에 OpenTelemetry 계측을 추가하고, 해당 구간을 OLLY가 해석할 수 있는 stage label로 기록해야 한다.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/ 14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효과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OLLY로 얻는 운영 효과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요청을 운영자가 추적 가능한 데이터로 바꾼다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19019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15568" y="2212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2905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27632" y="2157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단위 추적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27632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request_id와 trace_id로 하나의 요청을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· Jaeger · Prometheus까지 연결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864608" y="21579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9019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2212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2905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48272" y="21579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병목 원인 분리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48272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latency만 보는 것이 아니라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· llm_call · postprocess 중 느린 단계를 확인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985248" y="21579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5021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15568" y="3813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8907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27632" y="37581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· 토큰 가시화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27632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input/output token과 cost를 기록해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과다 사용과 비용 증가 원인을 파악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864608" y="37581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502152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3813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7FF"/>
          </a:solidFill>
          <a:ln w="12700">
            <a:solidFill>
              <a:srgbClr val="F5F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8907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48272" y="37581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 상황 대응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48272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error나 threshold 초과 상황을 감지하고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알림으로 운영자에게 전달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985248" y="375818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EE6F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/ 14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시나리오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데모를 위해 정의한 4가지 운영 상황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시나리오는 답변 내용이 아니라 metadata · trace · metric · alert 연결을 확인하기 위한 것이다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772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15544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47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정상 요청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11064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상태 확인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metadata 정상 생성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35204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2267712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3180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42976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679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단계 병목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38496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span 증가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Jaeger에서 단계 확인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62636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70408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7F8FF"/>
          </a:solidFill>
          <a:ln w="12700">
            <a:solidFill>
              <a:srgbClr val="F7F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#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111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과다 사용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65928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 · cost 증가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지표로 확인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9006840" y="1938528"/>
            <a:ext cx="2148840" cy="2743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440" y="2267712"/>
            <a:ext cx="960120" cy="228600"/>
          </a:xfrm>
          <a:prstGeom prst="roundRect">
            <a:avLst>
              <a:gd name="adj" fmla="val 24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23180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9784080" y="2779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2857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354312" y="33832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 추적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72600" y="382219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30" dirty="0"/>
          </a:p>
        </p:txBody>
      </p:sp>
      <p:sp>
        <p:nvSpPr>
          <p:cNvPr id="40" name="Text 38"/>
          <p:cNvSpPr/>
          <p:nvPr/>
        </p:nvSpPr>
        <p:spPr>
          <a:xfrm>
            <a:off x="9336024" y="40782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metric · trace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· alert 연결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/ 14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Demo: 4가지 운영 상황을 관측 흐름으로 연결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생성부터 지표 · trace · 알림까지 하나의 운영 흐름으로 확인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4663440" cy="2880360"/>
          </a:xfrm>
          <a:prstGeom prst="roundRect">
            <a:avLst>
              <a:gd name="adj" fmla="val 1905"/>
            </a:avLst>
          </a:prstGeom>
          <a:solidFill>
            <a:srgbClr val="201B4C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2011680"/>
            <a:ext cx="420624" cy="228600"/>
          </a:xfrm>
          <a:prstGeom prst="roundRect">
            <a:avLst>
              <a:gd name="adj" fmla="val 24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6197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2907792" y="27889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97180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378561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영상 · 1:30 - 2:00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47088" y="406908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당일 영상 삽입 · 핵심 화면 캡처로 대체 가능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77393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824228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903720" y="1819656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 - 4개 시나리오 요청 생성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6400800" y="225856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34086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391156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903720" y="2386584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- Recent Request 수집 확인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6400800" y="2825496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90779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958084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903720" y="2953512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 - slow_retrieve 병목 확인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6400800" y="3392424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47472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525012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6903720" y="3520440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Grafana - latency · token · cost 확인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6400800" y="3959352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04164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091940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6903720" y="4087368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Discord - error 알림 수신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6400800" y="452628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60857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658868"/>
            <a:ext cx="2011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6903720" y="4654296"/>
            <a:ext cx="2926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Dashboard - 운영 요약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14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결과 및 검증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시나리오별 10회 반복으로 관측 신호를 확인했다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50회 요청에서 request_id · trace_id · metric · span 연결 여부를 검증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182880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73936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시나리오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560320" y="1627632"/>
            <a:ext cx="96012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773936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에러율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520440" y="1627632"/>
            <a:ext cx="12801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7739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p50 지연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800600" y="1627632"/>
            <a:ext cx="12801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7739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p95 지연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080760" y="1627632"/>
            <a:ext cx="123444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773936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토큰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315200" y="1627632"/>
            <a:ext cx="3337560" cy="420624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1773936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 감지 구간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04825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249424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2560320" y="2048256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249424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3520440" y="2048256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249424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1.47초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4800600" y="2048256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249424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3.02초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080760" y="2048256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2249424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243개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7315200" y="2048256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249424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(1.23초)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731520" y="2615184"/>
            <a:ext cx="18288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2816352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560320" y="2615184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2816352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3520440" y="2615184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2816352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3.96초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4800600" y="2615184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2816352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5.93초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080760" y="2615184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2816352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270개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7315200" y="2615184"/>
            <a:ext cx="33375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816352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(1.80초, 정상 대비 약 12배 증가)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731520" y="318211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3383280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slow_llm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2560320" y="3182112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383280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3520440" y="318211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3383280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2.23초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4800600" y="318211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3383280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3.11초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6080760" y="3182112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53912" y="3383280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271개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7315200" y="3182112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88352" y="3383280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(1.99초)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731520" y="3749040"/>
            <a:ext cx="18288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" y="3950208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2560320" y="3749040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33472" y="3950208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0%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3520440" y="3749040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93592" y="3950208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34.58초</a:t>
            </a:r>
            <a:endParaRPr lang="en-US" sz="660" dirty="0"/>
          </a:p>
        </p:txBody>
      </p:sp>
      <p:sp>
        <p:nvSpPr>
          <p:cNvPr id="63" name="Shape 61"/>
          <p:cNvSpPr/>
          <p:nvPr/>
        </p:nvSpPr>
        <p:spPr>
          <a:xfrm>
            <a:off x="4800600" y="3749040"/>
            <a:ext cx="12801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73752" y="3950208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36.86초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6080760" y="3749040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53912" y="3950208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457개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7315200" y="3749040"/>
            <a:ext cx="333756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3950208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(34.35초, 리소스 한계 도달)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731520" y="431596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4672" y="4517136"/>
            <a:ext cx="16824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660" dirty="0"/>
          </a:p>
        </p:txBody>
      </p:sp>
      <p:sp>
        <p:nvSpPr>
          <p:cNvPr id="71" name="Shape 69"/>
          <p:cNvSpPr/>
          <p:nvPr/>
        </p:nvSpPr>
        <p:spPr>
          <a:xfrm>
            <a:off x="2560320" y="4315968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33472" y="4517136"/>
            <a:ext cx="8138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3520440" y="43159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93592" y="45171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0.15초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4800600" y="43159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73752" y="4517136"/>
            <a:ext cx="11338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0.15초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6080760" y="4315968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53912" y="4517136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0개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7315200" y="4315968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8352" y="4517136"/>
            <a:ext cx="31912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(HTTP Error 조기 실패)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914400" y="5230368"/>
            <a:ext cx="9921240" cy="438912"/>
          </a:xfrm>
          <a:prstGeom prst="roundRect">
            <a:avLst>
              <a:gd name="adj" fmla="val 8333"/>
            </a:avLst>
          </a:prstGeom>
          <a:solidFill>
            <a:srgbClr val="EEF5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97280" y="5385816"/>
            <a:ext cx="9509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기준: 같은 request_id와 trace_id가 Chat UI · Dashboard · Jaeger · Prometheus/Grafana에서 같은 요청을 설명하는가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85" name="Text 8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14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해석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데모에서 운영자가 얻는 판단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많다는 것이 아니라, 원인을 단계로 좁힐 수 있다는 점이 핵심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914400" y="1673352"/>
            <a:ext cx="182880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2743200" y="1673352"/>
            <a:ext cx="333756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10512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 결과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6080760" y="1673352"/>
            <a:ext cx="4617720" cy="384048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10512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운영자가 할 수 있는 판단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914400" y="2057400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194560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2743200" y="2057400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194560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 · token · cost 정상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6080760" y="2057400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194560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상태 확인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10259568" y="2157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9568" y="2235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2660904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798064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slow_retrieve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2743200" y="2660904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798064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retrieve span 증가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6080760" y="2660904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98064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· 문서 검색 계층 점검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10259568" y="27614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9568" y="28392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400" y="3264408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401568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slow_llm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2743200" y="3264408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3401568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llm_call span 증가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6080760" y="3264408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401568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리소스 · 외부 LLM API 지연 점검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10259568" y="3364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9568" y="34427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14400" y="3867912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005072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59E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high_token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2743200" y="3867912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4005072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token · cost 증가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6080760" y="3867912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005072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템플릿 · 검색 문맥 과다 주입 점검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10259568" y="39684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59568" y="40462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14400" y="4471416"/>
            <a:ext cx="1828800" cy="402336"/>
          </a:xfrm>
          <a:prstGeom prst="roundRect">
            <a:avLst>
              <a:gd name="adj" fmla="val 6818"/>
            </a:avLst>
          </a:prstGeom>
          <a:solidFill>
            <a:srgbClr val="FFF1F2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608576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2743200" y="4471416"/>
            <a:ext cx="333756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0" y="4608576"/>
            <a:ext cx="3154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error metric · trace 생성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6080760" y="4471416"/>
            <a:ext cx="4617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608576"/>
            <a:ext cx="4434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요청의 원인 trace 추적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10259568" y="4572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59568" y="46497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14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77640"/>
            <a:ext cx="4754880" cy="3108960"/>
          </a:xfrm>
          <a:prstGeom prst="ellipse">
            <a:avLst/>
          </a:prstGeom>
          <a:solidFill>
            <a:srgbClr val="DFF8F9">
              <a:alpha val="75000"/>
            </a:srgbClr>
          </a:solidFill>
          <a:ln w="12700">
            <a:solidFill>
              <a:srgbClr val="DFF8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005840"/>
            <a:ext cx="3840480" cy="2011680"/>
          </a:xfrm>
          <a:prstGeom prst="ellipse">
            <a:avLst/>
          </a:prstGeom>
          <a:solidFill>
            <a:srgbClr val="EDEBFF">
              <a:alpha val="82000"/>
            </a:srgbClr>
          </a:solidFill>
          <a:ln w="12700">
            <a:solidFill>
              <a:srgbClr val="EDE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420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" y="393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 및 향후 과제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694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MVP의 한계를 명확히 두고, 실무 적용 조건을 정리했다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112471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범위와 프로덕션 적용 조건을 구분한다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22960" y="1645920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9019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한계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15568" y="2359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436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4480" y="2432304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SLM 기반이라 실제 외부 LLM 과금 검증은 아님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115568" y="2926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00380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2999232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10회 반복은 대규모 부하 테스트가 아니라 관측 파이프라인 검증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115568" y="3493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570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54480" y="3566160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Prometheus에 request_id를 장기 label로 저장하면 cardinality 문제 가능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115568" y="4059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1376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4133088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prompt 저장은 개인정보 · 내부정보 유출 위험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115568" y="46268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7045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4480" y="4700016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품질 · hallucination 평가는 MVP 범위 밖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989320" y="1645920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D8E2F1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19019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향후 과제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2359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36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48272" y="2432304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LLM API 및 실제 Vector DB 기반 RAG 서비스 연동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309360" y="2926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0380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48272" y="2999232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prompt masking · 권한 관리 · 장기 저장소 도입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309360" y="3493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570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48272" y="3566160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 기준과 운영 환경용 alert rule 고도화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309360" y="4059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376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48272" y="4133088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request_id는 trace/log 중심, metric은 집계 label 중심으로 개선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309360" y="46268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70458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48272" y="4700016"/>
            <a:ext cx="3456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근거 일치도 · LLM-as-a-judge 품질 평가 추가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A7B2C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14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1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B4C"/>
          </a:solidFill>
          <a:ln w="12700">
            <a:solidFill>
              <a:srgbClr val="201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4937760" cy="4023360"/>
          </a:xfrm>
          <a:prstGeom prst="ellipse">
            <a:avLst/>
          </a:prstGeom>
          <a:solidFill>
            <a:srgbClr val="164E63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5669280" cy="4480560"/>
          </a:xfrm>
          <a:prstGeom prst="ellipse">
            <a:avLst/>
          </a:prstGeom>
          <a:solidFill>
            <a:srgbClr val="4C1D95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5486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603504" y="868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시대의 운영 핵심은 “요청 단위 운영 가시성”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603504" y="14813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D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OLLY는 LLM 요청 하나를 비용 · 지연 · 병목 · 실패 · 알림까지 연결해 보여주는 관측성 MVP입니다.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성과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6868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연결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request_id / trace_id로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 UI · Dashboard · Jaeger · Prometheus 연결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438912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0372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CNCF 접목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Kubernetes · OpenTelemetry · Prometheus · Jaeger를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운영 흐름에 적용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7909560" y="2907792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3A3477"/>
          </a:solidFill>
          <a:ln w="10160">
            <a:solidFill>
              <a:srgbClr val="4A438B"/>
            </a:solidFill>
            <a:prstDash val="solid"/>
          </a:ln>
          <a:effectLst>
            <a:outerShdw sx="100000" sy="100000" kx="0" ky="0" algn="bl" rotWithShape="0" blurRad="15240" dist="50800" dir="2700000">
              <a:srgbClr val="D7DEEC">
                <a:alpha val="2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3310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24160" y="31272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36758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판단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8388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느린 요청, 비용 증가, 실패 요청을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기반으로 추적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841248" y="5257800"/>
            <a:ext cx="9829800" cy="402336"/>
          </a:xfrm>
          <a:prstGeom prst="roundRect">
            <a:avLst>
              <a:gd name="adj" fmla="val 9091"/>
            </a:avLst>
          </a:prstGeom>
          <a:solidFill>
            <a:srgbClr val="3933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5394960"/>
            <a:ext cx="91440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6F2E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즉, OLLY는 LLM 서비스를 운영하기 위한 관측성 계층입니다.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9372600" y="6327648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 · 오픈소스SW분석 (클라우드) 5팀</a:t>
            </a:r>
            <a:endParaRPr lang="en-US" sz="590" dirty="0"/>
          </a:p>
        </p:txBody>
      </p:sp>
      <p:sp>
        <p:nvSpPr>
          <p:cNvPr id="30" name="Text 28"/>
          <p:cNvSpPr/>
          <p:nvPr/>
        </p:nvSpPr>
        <p:spPr>
          <a:xfrm>
            <a:off x="585216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87552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LLM 운영 관측성 MVP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11045952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14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OLLY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OLLY 최종 발표 - 가이드라인 반영</dc:title>
  <dc:subject>CNCF 오픈소스 기반 LLM 운영 관측성 MVP</dc:subject>
  <dc:creator>OLLY Team</dc:creator>
  <cp:lastModifiedBy>OLLY Team</cp:lastModifiedBy>
  <cp:revision>1</cp:revision>
  <dcterms:created xsi:type="dcterms:W3CDTF">2026-06-03T13:22:37Z</dcterms:created>
  <dcterms:modified xsi:type="dcterms:W3CDTF">2026-06-03T13:22:37Z</dcterms:modified>
</cp:coreProperties>
</file>