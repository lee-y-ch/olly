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slide" Target="slides/slide1.xml" /><ns0:Relationship Id="rId3" Type="http://schemas.openxmlformats.org/officeDocument/2006/relationships/slide" Target="slides/slide2.xml" /><ns0:Relationship Id="rId4" Type="http://schemas.openxmlformats.org/officeDocument/2006/relationships/slide" Target="slides/slide3.xml" /><ns0:Relationship Id="rId5" Type="http://schemas.openxmlformats.org/officeDocument/2006/relationships/slide" Target="slides/slide4.xml" /><ns0:Relationship Id="rId6" Type="http://schemas.openxmlformats.org/officeDocument/2006/relationships/slide" Target="slides/slide5.xml" /><ns0:Relationship Id="rId7" Type="http://schemas.openxmlformats.org/officeDocument/2006/relationships/slide" Target="slides/slide6.xml" /><ns0:Relationship Id="rId8" Type="http://schemas.openxmlformats.org/officeDocument/2006/relationships/slide" Target="slides/slide7.xml" /><ns0:Relationship Id="rId9" Type="http://schemas.openxmlformats.org/officeDocument/2006/relationships/slide" Target="slides/slide8.xml" /><ns0:Relationship Id="rId10" Type="http://schemas.openxmlformats.org/officeDocument/2006/relationships/slide" Target="slides/slide9.xml" /><ns0:Relationship Id="rId11" Type="http://schemas.openxmlformats.org/officeDocument/2006/relationships/slide" Target="slides/slide10.xml" /><ns0:Relationship Id="rId12" Type="http://schemas.openxmlformats.org/officeDocument/2006/relationships/slide" Target="slides/slide11.xml" /><ns0:Relationship Id="rId13" Type="http://schemas.openxmlformats.org/officeDocument/2006/relationships/slide" Target="slides/slide12.xml" /><ns0:Relationship Id="rId14" Type="http://schemas.openxmlformats.org/officeDocument/2006/relationships/slide" Target="slides/slide13.xml" /><ns0:Relationship Id="rId15" Type="http://schemas.openxmlformats.org/officeDocument/2006/relationships/slide" Target="slides/slide14.xml" /><ns0:Relationship Id="rId17" Type="http://schemas.openxmlformats.org/officeDocument/2006/relationships/presProps" Target="presProps.xml" /><ns0:Relationship Id="rId18" Type="http://schemas.openxmlformats.org/officeDocument/2006/relationships/viewProps" Target="viewProps.xml" /><ns0:Relationship Id="rId19" Type="http://schemas.openxmlformats.org/officeDocument/2006/relationships/theme" Target="theme/theme1.xml" /><ns0:Relationship Id="rId20" Type="http://schemas.openxmlformats.org/officeDocument/2006/relationships/tableStyles" Target="tableStyles.xml" /></ns0: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/ns0:Relationships>
</file>

<file path=ppt/slides/_rels/slide2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/ns0:Relationships>
</file>

<file path=ppt/slides/_rels/slide3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/ns0:Relationships>
</file>

<file path=ppt/slides/_rels/slide4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/ns0:Relationships>
</file>

<file path=ppt/slides/_rels/slide5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/ns0:Relationships>
</file>

<file path=ppt/slides/_rels/slide6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/ns0:Relationships>
</file>

<file path=ppt/slides/_rels/slide7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/ns0:Relationships>
</file>

<file path=ppt/slides/_rels/slide8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/ns0:Relationships>
</file>

<file path=ppt/slides/_rels/slide9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/ns0:Relationships>
</file>

<file path=ppt/slides/_rels/slide10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/ns0:Relationships>
</file>

<file path=ppt/slides/_rels/slide11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/ns0:Relationships>
</file>

<file path=ppt/slides/_rels/slide12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/ns0:Relationships>
</file>

<file path=ppt/slides/_rels/slide13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/ns0:Relationships>
</file>

<file path=ppt/slides/_rels/slide14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/ns0: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01B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1B4C"/>
          </a:solidFill>
          <a:ln w="12700">
            <a:solidFill>
              <a:srgbClr val="201B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-731520"/>
            <a:ext cx="4937760" cy="4023360"/>
          </a:xfrm>
          <a:prstGeom prst="ellipse">
            <a:avLst/>
          </a:prstGeom>
          <a:solidFill>
            <a:srgbClr val="164E63">
              <a:alpha val="6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-731520"/>
            <a:ext cx="5669280" cy="4480560"/>
          </a:xfrm>
          <a:prstGeom prst="ellipse">
            <a:avLst/>
          </a:prstGeom>
          <a:solidFill>
            <a:srgbClr val="4C1D95">
              <a:alpha val="7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85216" y="80467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OLLY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621792" y="1536192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CNCF 오픈소스 기반</a:t>
            </a:r>
            <a:endParaRPr lang="en-US" sz="1350" dirty="0"/>
          </a:p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LLM 운영 관측성 MVP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21792" y="2395728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DDE7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비용 · 지연 · 병목 · 실패를 request_id 와 trace_id 로 추적하는 관측성 플랫폼</a:t>
            </a:r>
            <a:endParaRPr lang="en-US" sz="830" dirty="0"/>
          </a:p>
        </p:txBody>
      </p:sp>
      <p:sp>
        <p:nvSpPr>
          <p:cNvPr id="8" name="Shape 6"/>
          <p:cNvSpPr/>
          <p:nvPr/>
        </p:nvSpPr>
        <p:spPr>
          <a:xfrm>
            <a:off x="621792" y="2926080"/>
            <a:ext cx="914400" cy="228600"/>
          </a:xfrm>
          <a:prstGeom prst="roundRect">
            <a:avLst>
              <a:gd name="adj" fmla="val 24000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2976372"/>
            <a:ext cx="914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Kubernetes</a:t>
            </a:r>
            <a:endParaRPr lang="en-US" sz="580" dirty="0"/>
          </a:p>
        </p:txBody>
      </p:sp>
      <p:sp>
        <p:nvSpPr>
          <p:cNvPr id="10" name="Shape 8"/>
          <p:cNvSpPr/>
          <p:nvPr/>
        </p:nvSpPr>
        <p:spPr>
          <a:xfrm>
            <a:off x="1746504" y="2926080"/>
            <a:ext cx="1207008" cy="228600"/>
          </a:xfrm>
          <a:prstGeom prst="roundRect">
            <a:avLst>
              <a:gd name="adj" fmla="val 24000"/>
            </a:avLst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746504" y="2976372"/>
            <a:ext cx="12070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OpenTelemetry</a:t>
            </a:r>
            <a:endParaRPr lang="en-US" sz="580" dirty="0"/>
          </a:p>
        </p:txBody>
      </p:sp>
      <p:sp>
        <p:nvSpPr>
          <p:cNvPr id="12" name="Shape 10"/>
          <p:cNvSpPr/>
          <p:nvPr/>
        </p:nvSpPr>
        <p:spPr>
          <a:xfrm>
            <a:off x="2871216" y="2926080"/>
            <a:ext cx="914400" cy="228600"/>
          </a:xfrm>
          <a:prstGeom prst="roundRect">
            <a:avLst>
              <a:gd name="adj" fmla="val 24000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71216" y="2976372"/>
            <a:ext cx="914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Prometheus</a:t>
            </a:r>
            <a:endParaRPr lang="en-US" sz="580" dirty="0"/>
          </a:p>
        </p:txBody>
      </p:sp>
      <p:sp>
        <p:nvSpPr>
          <p:cNvPr id="14" name="Shape 12"/>
          <p:cNvSpPr/>
          <p:nvPr/>
        </p:nvSpPr>
        <p:spPr>
          <a:xfrm>
            <a:off x="3995928" y="2926080"/>
            <a:ext cx="914400" cy="228600"/>
          </a:xfrm>
          <a:prstGeom prst="roundRect">
            <a:avLst>
              <a:gd name="adj" fmla="val 24000"/>
            </a:avLst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95928" y="2976372"/>
            <a:ext cx="914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Jaeger</a:t>
            </a:r>
            <a:endParaRPr lang="en-US" sz="580" dirty="0"/>
          </a:p>
        </p:txBody>
      </p:sp>
      <p:sp>
        <p:nvSpPr>
          <p:cNvPr id="16" name="Shape 14"/>
          <p:cNvSpPr/>
          <p:nvPr/>
        </p:nvSpPr>
        <p:spPr>
          <a:xfrm>
            <a:off x="8503920" y="621792"/>
            <a:ext cx="233172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0160">
            <a:solidFill>
              <a:srgbClr val="D8E2F1">
                <a:alpha val="4000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D7DEEC">
                <a:alpha val="2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668512" y="713232"/>
            <a:ext cx="1143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20" b="1" dirty="0">
                <a:solidFill>
                  <a:srgbClr val="A7B2C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AVG LATENCY</a:t>
            </a:r>
            <a:endParaRPr lang="en-US" sz="520" dirty="0"/>
          </a:p>
        </p:txBody>
      </p:sp>
      <p:sp>
        <p:nvSpPr>
          <p:cNvPr id="18" name="Text 16"/>
          <p:cNvSpPr/>
          <p:nvPr/>
        </p:nvSpPr>
        <p:spPr>
          <a:xfrm>
            <a:off x="8668512" y="89611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1.88s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0378440" y="79552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378440" y="873252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563E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↗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8503920" y="1463040"/>
            <a:ext cx="233172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0160">
            <a:solidFill>
              <a:srgbClr val="D8E2F1">
                <a:alpha val="4000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D7DEEC">
                <a:alpha val="23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668512" y="1554480"/>
            <a:ext cx="1143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20" b="1" dirty="0">
                <a:solidFill>
                  <a:srgbClr val="A7B2C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SUCCESS RATE</a:t>
            </a:r>
            <a:endParaRPr lang="en-US" sz="520" dirty="0"/>
          </a:p>
        </p:txBody>
      </p:sp>
      <p:sp>
        <p:nvSpPr>
          <p:cNvPr id="23" name="Text 21"/>
          <p:cNvSpPr/>
          <p:nvPr/>
        </p:nvSpPr>
        <p:spPr>
          <a:xfrm>
            <a:off x="8668512" y="173736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75.0%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0378440" y="163677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378440" y="1714500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0B98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✓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8503920" y="2304288"/>
            <a:ext cx="233172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0160">
            <a:solidFill>
              <a:srgbClr val="D8E2F1">
                <a:alpha val="4000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D7DEEC">
                <a:alpha val="23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8668512" y="2395728"/>
            <a:ext cx="1143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20" b="1" dirty="0">
                <a:solidFill>
                  <a:srgbClr val="A7B2C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TOTAL COST</a:t>
            </a:r>
            <a:endParaRPr lang="en-US" sz="520" dirty="0"/>
          </a:p>
        </p:txBody>
      </p:sp>
      <p:sp>
        <p:nvSpPr>
          <p:cNvPr id="28" name="Text 26"/>
          <p:cNvSpPr/>
          <p:nvPr/>
        </p:nvSpPr>
        <p:spPr>
          <a:xfrm>
            <a:off x="8668512" y="2578608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$0.00011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10378440" y="247802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FFBEB"/>
          </a:solidFill>
          <a:ln w="12700">
            <a:solidFill>
              <a:srgbClr val="FFFB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378440" y="2555748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59E0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$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8558784" y="3401568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20" b="1" dirty="0">
                <a:solidFill>
                  <a:srgbClr val="A7B2C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RECENT TRACES</a:t>
            </a:r>
            <a:endParaRPr lang="en-US" sz="520" dirty="0"/>
          </a:p>
        </p:txBody>
      </p:sp>
      <p:sp>
        <p:nvSpPr>
          <p:cNvPr id="32" name="Shape 30"/>
          <p:cNvSpPr/>
          <p:nvPr/>
        </p:nvSpPr>
        <p:spPr>
          <a:xfrm>
            <a:off x="8503920" y="3611880"/>
            <a:ext cx="2331720" cy="585216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0160">
            <a:solidFill>
              <a:srgbClr val="D8E2F1">
                <a:alpha val="3000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D7DEEC">
                <a:alpha val="23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8668512" y="3730752"/>
            <a:ext cx="1097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" b="1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req_6cc69475</a:t>
            </a:r>
            <a:endParaRPr lang="en-US" sz="640" dirty="0"/>
          </a:p>
        </p:txBody>
      </p:sp>
      <p:sp>
        <p:nvSpPr>
          <p:cNvPr id="34" name="Text 32"/>
          <p:cNvSpPr/>
          <p:nvPr/>
        </p:nvSpPr>
        <p:spPr>
          <a:xfrm>
            <a:off x="10122408" y="3730752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570" b="1" dirty="0">
                <a:solidFill>
                  <a:srgbClr val="F43F5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error</a:t>
            </a:r>
            <a:endParaRPr lang="en-US" sz="570" dirty="0"/>
          </a:p>
        </p:txBody>
      </p:sp>
      <p:sp>
        <p:nvSpPr>
          <p:cNvPr id="35" name="Text 33"/>
          <p:cNvSpPr/>
          <p:nvPr/>
        </p:nvSpPr>
        <p:spPr>
          <a:xfrm>
            <a:off x="8668512" y="3941064"/>
            <a:ext cx="1097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" b="1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req_b7a3a1ba</a:t>
            </a:r>
            <a:endParaRPr lang="en-US" sz="640" dirty="0"/>
          </a:p>
        </p:txBody>
      </p:sp>
      <p:sp>
        <p:nvSpPr>
          <p:cNvPr id="36" name="Text 34"/>
          <p:cNvSpPr/>
          <p:nvPr/>
        </p:nvSpPr>
        <p:spPr>
          <a:xfrm>
            <a:off x="10058400" y="3941064"/>
            <a:ext cx="5303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570" b="1" dirty="0">
                <a:solidFill>
                  <a:srgbClr val="10B98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success</a:t>
            </a:r>
            <a:endParaRPr lang="en-US" sz="570" dirty="0"/>
          </a:p>
        </p:txBody>
      </p:sp>
      <p:sp>
        <p:nvSpPr>
          <p:cNvPr id="37" name="Text 35"/>
          <p:cNvSpPr/>
          <p:nvPr/>
        </p:nvSpPr>
        <p:spPr>
          <a:xfrm>
            <a:off x="621792" y="6089904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CBD5E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오픈소스SW분석 (클라우드) · 5조</a:t>
            </a:r>
            <a:endParaRPr lang="en-US" sz="720" dirty="0"/>
          </a:p>
        </p:txBody>
      </p:sp>
      <p:sp>
        <p:nvSpPr>
          <p:cNvPr id="38" name="Text 36"/>
          <p:cNvSpPr/>
          <p:nvPr/>
        </p:nvSpPr>
        <p:spPr>
          <a:xfrm>
            <a:off x="621792" y="6291072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60" dirty="0">
                <a:solidFill>
                  <a:srgbClr val="CBD5E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최호준(32215116) | 이용찬(32213336) | 박주희(32221902) | 조하은(32234364)</a:t>
            </a:r>
            <a:endParaRPr lang="en-US" sz="66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F"/>
          </a:solidFill>
          <a:ln w="12700">
            <a:solidFill>
              <a:srgbClr val="F7FA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3977640"/>
            <a:ext cx="4754880" cy="3108960"/>
          </a:xfrm>
          <a:prstGeom prst="ellipse">
            <a:avLst/>
          </a:prstGeom>
          <a:solidFill>
            <a:srgbClr val="DFF8F9">
              <a:alpha val="75000"/>
            </a:srgbClr>
          </a:solidFill>
          <a:ln w="12700">
            <a:solidFill>
              <a:srgbClr val="DFF8F9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78240" y="-1005840"/>
            <a:ext cx="3840480" cy="2011680"/>
          </a:xfrm>
          <a:prstGeom prst="ellipse">
            <a:avLst/>
          </a:prstGeom>
          <a:solidFill>
            <a:srgbClr val="EDEBFF">
              <a:alpha val="82000"/>
            </a:srgbClr>
          </a:solidFill>
          <a:ln w="12700">
            <a:solidFill>
              <a:srgbClr val="EDEB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85216" y="420624"/>
            <a:ext cx="310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2563E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01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932688" y="39319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2563E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문제 정의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85216" y="694944"/>
            <a:ext cx="7772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LLM 서비스는 일반 API와 다르다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85216" y="1124712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같은 /chat 요청이라도 프롬프트 · 검색 문맥 · 모델 호출 · 출력 토큰에 따라 비용과 지연이 달라진다</a:t>
            </a:r>
            <a:endParaRPr lang="en-US" sz="860" dirty="0"/>
          </a:p>
        </p:txBody>
      </p:sp>
      <p:sp>
        <p:nvSpPr>
          <p:cNvPr id="9" name="Shape 7"/>
          <p:cNvSpPr/>
          <p:nvPr/>
        </p:nvSpPr>
        <p:spPr>
          <a:xfrm>
            <a:off x="896112" y="1874520"/>
            <a:ext cx="3931920" cy="251460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10160">
            <a:solidFill>
              <a:srgbClr val="D8E2F1"/>
            </a:solidFill>
            <a:prstDash val="solid"/>
          </a:ln>
          <a:effectLst>
            <a:outerShdw sx="100000" sy="100000" kx="0" ky="0" algn="bl" rotWithShape="0" blurRad="15240" dist="50800" dir="2700000">
              <a:srgbClr val="D7DEEC">
                <a:alpha val="2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143000" y="2084832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기존 APM 모니터링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1234440" y="254203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34440" y="2619756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0B98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✓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664208" y="2532888"/>
            <a:ext cx="1463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HTTP Status</a:t>
            </a:r>
            <a:endParaRPr lang="en-US" sz="820" dirty="0"/>
          </a:p>
        </p:txBody>
      </p:sp>
      <p:sp>
        <p:nvSpPr>
          <p:cNvPr id="14" name="Text 12"/>
          <p:cNvSpPr/>
          <p:nvPr/>
        </p:nvSpPr>
        <p:spPr>
          <a:xfrm>
            <a:off x="1664208" y="2706624"/>
            <a:ext cx="2286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성공 / 실패 여부</a:t>
            </a:r>
            <a:endParaRPr lang="en-US" sz="640" dirty="0"/>
          </a:p>
        </p:txBody>
      </p:sp>
      <p:sp>
        <p:nvSpPr>
          <p:cNvPr id="15" name="Shape 13"/>
          <p:cNvSpPr/>
          <p:nvPr/>
        </p:nvSpPr>
        <p:spPr>
          <a:xfrm>
            <a:off x="1234440" y="304495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34440" y="3122676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563E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↘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1664208" y="3035808"/>
            <a:ext cx="1463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Latency</a:t>
            </a:r>
            <a:endParaRPr lang="en-US" sz="820" dirty="0"/>
          </a:p>
        </p:txBody>
      </p:sp>
      <p:sp>
        <p:nvSpPr>
          <p:cNvPr id="18" name="Text 16"/>
          <p:cNvSpPr/>
          <p:nvPr/>
        </p:nvSpPr>
        <p:spPr>
          <a:xfrm>
            <a:off x="1664208" y="3209544"/>
            <a:ext cx="2286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전체 응답 시간</a:t>
            </a:r>
            <a:endParaRPr lang="en-US" sz="640" dirty="0"/>
          </a:p>
        </p:txBody>
      </p:sp>
      <p:sp>
        <p:nvSpPr>
          <p:cNvPr id="19" name="Shape 17"/>
          <p:cNvSpPr/>
          <p:nvPr/>
        </p:nvSpPr>
        <p:spPr>
          <a:xfrm>
            <a:off x="1234440" y="354787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34440" y="3625596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43F5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!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664208" y="3538728"/>
            <a:ext cx="1463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Error rate</a:t>
            </a:r>
            <a:endParaRPr lang="en-US" sz="820" dirty="0"/>
          </a:p>
        </p:txBody>
      </p:sp>
      <p:sp>
        <p:nvSpPr>
          <p:cNvPr id="22" name="Text 20"/>
          <p:cNvSpPr/>
          <p:nvPr/>
        </p:nvSpPr>
        <p:spPr>
          <a:xfrm>
            <a:off x="1664208" y="3712464"/>
            <a:ext cx="2286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오류 비율</a:t>
            </a:r>
            <a:endParaRPr lang="en-US" sz="640" dirty="0"/>
          </a:p>
        </p:txBody>
      </p:sp>
      <p:sp>
        <p:nvSpPr>
          <p:cNvPr id="23" name="Shape 21"/>
          <p:cNvSpPr/>
          <p:nvPr/>
        </p:nvSpPr>
        <p:spPr>
          <a:xfrm>
            <a:off x="5157216" y="2788920"/>
            <a:ext cx="475488" cy="47548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57216" y="2898648"/>
            <a:ext cx="47548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+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943600" y="1874520"/>
            <a:ext cx="4480560" cy="251460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10160">
            <a:solidFill>
              <a:srgbClr val="D8E2F1"/>
            </a:solidFill>
            <a:prstDash val="solid"/>
          </a:ln>
          <a:effectLst>
            <a:outerShdw sx="100000" sy="100000" kx="0" ky="0" algn="bl" rotWithShape="0" blurRad="15240" dist="50800" dir="2700000">
              <a:srgbClr val="D7DEEC">
                <a:alpha val="23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236208" y="2084832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LLM 운영에 필요한 관측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400800" y="259689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7F8FF"/>
          </a:solidFill>
          <a:ln w="12700">
            <a:solidFill>
              <a:srgbClr val="F7F8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0" y="2674620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563E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↘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6812280" y="2679192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Latency</a:t>
            </a:r>
            <a:endParaRPr lang="en-US" sz="720" dirty="0"/>
          </a:p>
        </p:txBody>
      </p:sp>
      <p:sp>
        <p:nvSpPr>
          <p:cNvPr id="30" name="Shape 28"/>
          <p:cNvSpPr/>
          <p:nvPr/>
        </p:nvSpPr>
        <p:spPr>
          <a:xfrm>
            <a:off x="8229600" y="259689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7F8FF"/>
          </a:solidFill>
          <a:ln w="12700">
            <a:solidFill>
              <a:srgbClr val="F7F8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29600" y="2674620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59E0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#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8641080" y="2679192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Token</a:t>
            </a:r>
            <a:endParaRPr lang="en-US" sz="720" dirty="0"/>
          </a:p>
        </p:txBody>
      </p:sp>
      <p:sp>
        <p:nvSpPr>
          <p:cNvPr id="33" name="Shape 31"/>
          <p:cNvSpPr/>
          <p:nvPr/>
        </p:nvSpPr>
        <p:spPr>
          <a:xfrm>
            <a:off x="6400800" y="311810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7F8FF"/>
          </a:solidFill>
          <a:ln w="12700">
            <a:solidFill>
              <a:srgbClr val="F7F8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0" y="3195828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0B98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$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6812280" y="3200400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Cost</a:t>
            </a:r>
            <a:endParaRPr lang="en-US" sz="720" dirty="0"/>
          </a:p>
        </p:txBody>
      </p:sp>
      <p:sp>
        <p:nvSpPr>
          <p:cNvPr id="36" name="Shape 34"/>
          <p:cNvSpPr/>
          <p:nvPr/>
        </p:nvSpPr>
        <p:spPr>
          <a:xfrm>
            <a:off x="8229600" y="311810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7F8FF"/>
          </a:solidFill>
          <a:ln w="12700">
            <a:solidFill>
              <a:srgbClr val="F7F8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229600" y="3195828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7C3AE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8641080" y="3200400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Stage duration</a:t>
            </a:r>
            <a:endParaRPr lang="en-US" sz="720" dirty="0"/>
          </a:p>
        </p:txBody>
      </p:sp>
      <p:sp>
        <p:nvSpPr>
          <p:cNvPr id="39" name="Shape 37"/>
          <p:cNvSpPr/>
          <p:nvPr/>
        </p:nvSpPr>
        <p:spPr>
          <a:xfrm>
            <a:off x="6400800" y="363931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7F8FF"/>
          </a:solidFill>
          <a:ln w="12700">
            <a:solidFill>
              <a:srgbClr val="F7F8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00800" y="3717036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43F5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!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6812280" y="372160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Error</a:t>
            </a:r>
            <a:endParaRPr lang="en-US" sz="720" dirty="0"/>
          </a:p>
        </p:txBody>
      </p:sp>
      <p:sp>
        <p:nvSpPr>
          <p:cNvPr id="42" name="Shape 40"/>
          <p:cNvSpPr/>
          <p:nvPr/>
        </p:nvSpPr>
        <p:spPr>
          <a:xfrm>
            <a:off x="8229600" y="363931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7F8FF"/>
          </a:solidFill>
          <a:ln w="12700">
            <a:solidFill>
              <a:srgbClr val="F7F8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229600" y="3717036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8BDF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8641080" y="372160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Alert</a:t>
            </a:r>
            <a:endParaRPr lang="en-US" sz="720" dirty="0"/>
          </a:p>
        </p:txBody>
      </p:sp>
      <p:sp>
        <p:nvSpPr>
          <p:cNvPr id="45" name="Shape 43"/>
          <p:cNvSpPr/>
          <p:nvPr/>
        </p:nvSpPr>
        <p:spPr>
          <a:xfrm>
            <a:off x="1298448" y="5047488"/>
            <a:ext cx="8686800" cy="384048"/>
          </a:xfrm>
          <a:prstGeom prst="roundRect">
            <a:avLst>
              <a:gd name="adj" fmla="val 9524"/>
            </a:avLst>
          </a:prstGeom>
          <a:solidFill>
            <a:srgbClr val="201B4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508760" y="5175504"/>
            <a:ext cx="82296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HTTP 200이어도 운영 관점에서는 성공이 아니다. 왜 느린지, 왜 비용이 늘었는지, 어느 단계가 병목인지 알 수 있어야 한다.</a:t>
            </a:r>
            <a:endParaRPr lang="en-US" sz="680" dirty="0"/>
          </a:p>
        </p:txBody>
      </p:sp>
      <p:sp>
        <p:nvSpPr>
          <p:cNvPr id="47" name="Text 45"/>
          <p:cNvSpPr/>
          <p:nvPr/>
        </p:nvSpPr>
        <p:spPr>
          <a:xfrm>
            <a:off x="585216" y="647395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2563E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OLLY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987552" y="647395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A7B2C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·  LLM 운영 관측성 MVP</a:t>
            </a:r>
            <a:endParaRPr lang="en-US" sz="670" dirty="0"/>
          </a:p>
        </p:txBody>
      </p:sp>
      <p:sp>
        <p:nvSpPr>
          <p:cNvPr id="49" name="Text 47"/>
          <p:cNvSpPr/>
          <p:nvPr/>
        </p:nvSpPr>
        <p:spPr>
          <a:xfrm>
            <a:off x="11045952" y="647395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670" dirty="0">
                <a:solidFill>
                  <a:srgbClr val="A7B2C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02 / 14</a:t>
            </a:r>
            <a:endParaRPr lang="en-US" sz="67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F"/>
          </a:solidFill>
          <a:ln w="12700">
            <a:solidFill>
              <a:srgbClr val="F7FA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3977640"/>
            <a:ext cx="4754880" cy="3108960"/>
          </a:xfrm>
          <a:prstGeom prst="ellipse">
            <a:avLst/>
          </a:prstGeom>
          <a:solidFill>
            <a:srgbClr val="DFF8F9">
              <a:alpha val="75000"/>
            </a:srgbClr>
          </a:solidFill>
          <a:ln w="12700">
            <a:solidFill>
              <a:srgbClr val="DFF8F9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78240" y="-1005840"/>
            <a:ext cx="3840480" cy="2011680"/>
          </a:xfrm>
          <a:prstGeom prst="ellipse">
            <a:avLst/>
          </a:prstGeom>
          <a:solidFill>
            <a:srgbClr val="EDEBFF">
              <a:alpha val="82000"/>
            </a:srgbClr>
          </a:solidFill>
          <a:ln w="12700">
            <a:solidFill>
              <a:srgbClr val="EDEB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85216" y="420624"/>
            <a:ext cx="310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2563E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02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932688" y="39319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2563E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1차 발표 이후 변화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85216" y="694944"/>
            <a:ext cx="7772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아이디어 중심 구조에서 동작하는 MVP로 좁혔다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85216" y="1124712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가이드라인에 맞춰 최종 발표에서는 변경점과 설계 판단을 명확히 분리해 설명한다</a:t>
            </a:r>
            <a:endParaRPr lang="en-US" sz="860" dirty="0"/>
          </a:p>
        </p:txBody>
      </p:sp>
      <p:sp>
        <p:nvSpPr>
          <p:cNvPr id="9" name="Text 7"/>
          <p:cNvSpPr/>
          <p:nvPr/>
        </p:nvSpPr>
        <p:spPr>
          <a:xfrm>
            <a:off x="3840480" y="162763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1차 발표 당시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858000" y="162763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최종 구현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914400" y="1993392"/>
            <a:ext cx="99669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8E2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3000" y="2148840"/>
            <a:ext cx="3291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2563E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01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1664208" y="2130552"/>
            <a:ext cx="3291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아이디어 수준의 관측성 구조</a:t>
            </a:r>
            <a:endParaRPr lang="en-US" sz="780" dirty="0"/>
          </a:p>
        </p:txBody>
      </p:sp>
      <p:sp>
        <p:nvSpPr>
          <p:cNvPr id="14" name="Shape 12"/>
          <p:cNvSpPr/>
          <p:nvPr/>
        </p:nvSpPr>
        <p:spPr>
          <a:xfrm>
            <a:off x="5074920" y="2221992"/>
            <a:ext cx="731520" cy="0"/>
          </a:xfrm>
          <a:prstGeom prst="line">
            <a:avLst/>
          </a:prstGeom>
          <a:noFill/>
          <a:ln w="16510">
            <a:solidFill>
              <a:srgbClr val="8B5CF6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6053328" y="2112264"/>
            <a:ext cx="4434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4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FastAPI 샘플 서비스 + 실제 관측 파이프라인 구현</a:t>
            </a:r>
            <a:endParaRPr lang="en-US" sz="740" dirty="0"/>
          </a:p>
        </p:txBody>
      </p:sp>
      <p:sp>
        <p:nvSpPr>
          <p:cNvPr id="16" name="Shape 14"/>
          <p:cNvSpPr/>
          <p:nvPr/>
        </p:nvSpPr>
        <p:spPr>
          <a:xfrm>
            <a:off x="914400" y="2651760"/>
            <a:ext cx="9966960" cy="457200"/>
          </a:xfrm>
          <a:prstGeom prst="roundRect">
            <a:avLst>
              <a:gd name="adj" fmla="val 12000"/>
            </a:avLst>
          </a:prstGeom>
          <a:solidFill>
            <a:srgbClr val="F9FBFF"/>
          </a:solidFill>
          <a:ln w="10160">
            <a:solidFill>
              <a:srgbClr val="D8E2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43000" y="2807208"/>
            <a:ext cx="3291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2563E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02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1664208" y="2788920"/>
            <a:ext cx="3291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외부 LLM API 연동 검토</a:t>
            </a:r>
            <a:endParaRPr lang="en-US" sz="780" dirty="0"/>
          </a:p>
        </p:txBody>
      </p:sp>
      <p:sp>
        <p:nvSpPr>
          <p:cNvPr id="19" name="Shape 17"/>
          <p:cNvSpPr/>
          <p:nvPr/>
        </p:nvSpPr>
        <p:spPr>
          <a:xfrm>
            <a:off x="5074920" y="2880360"/>
            <a:ext cx="731520" cy="0"/>
          </a:xfrm>
          <a:prstGeom prst="line">
            <a:avLst/>
          </a:prstGeom>
          <a:noFill/>
          <a:ln w="16510">
            <a:solidFill>
              <a:srgbClr val="8B5CF6"/>
            </a:solidFill>
            <a:prstDash val="solid"/>
            <a:headEnd type="none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6053328" y="2770632"/>
            <a:ext cx="4434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4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비용과 재현성 때문에 Ollama gemma3:1b 로컬 SLM 선택</a:t>
            </a:r>
            <a:endParaRPr lang="en-US" sz="740" dirty="0"/>
          </a:p>
        </p:txBody>
      </p:sp>
      <p:sp>
        <p:nvSpPr>
          <p:cNvPr id="21" name="Shape 19"/>
          <p:cNvSpPr/>
          <p:nvPr/>
        </p:nvSpPr>
        <p:spPr>
          <a:xfrm>
            <a:off x="914400" y="3310128"/>
            <a:ext cx="99669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8E2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43000" y="3465576"/>
            <a:ext cx="3291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2563E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03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1664208" y="3447288"/>
            <a:ext cx="3291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대시보드 구상 중심</a:t>
            </a:r>
            <a:endParaRPr lang="en-US" sz="780" dirty="0"/>
          </a:p>
        </p:txBody>
      </p:sp>
      <p:sp>
        <p:nvSpPr>
          <p:cNvPr id="24" name="Shape 22"/>
          <p:cNvSpPr/>
          <p:nvPr/>
        </p:nvSpPr>
        <p:spPr>
          <a:xfrm>
            <a:off x="5074920" y="3538728"/>
            <a:ext cx="731520" cy="0"/>
          </a:xfrm>
          <a:prstGeom prst="line">
            <a:avLst/>
          </a:prstGeom>
          <a:noFill/>
          <a:ln w="16510">
            <a:solidFill>
              <a:srgbClr val="8B5CF6"/>
            </a:solidFill>
            <a:prstDash val="solid"/>
            <a:headEnd type="none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6053328" y="3429000"/>
            <a:ext cx="4434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4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Dashboard · Jaeger · Prometheus · Discord 알림 연결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914400" y="3968496"/>
            <a:ext cx="9966960" cy="457200"/>
          </a:xfrm>
          <a:prstGeom prst="roundRect">
            <a:avLst>
              <a:gd name="adj" fmla="val 12000"/>
            </a:avLst>
          </a:prstGeom>
          <a:solidFill>
            <a:srgbClr val="F9FBFF"/>
          </a:solidFill>
          <a:ln w="10160">
            <a:solidFill>
              <a:srgbClr val="D8E2F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43000" y="4123944"/>
            <a:ext cx="3291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2563E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04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1664208" y="4105656"/>
            <a:ext cx="3291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단순 모니터링 목표</a:t>
            </a:r>
            <a:endParaRPr lang="en-US" sz="780" dirty="0"/>
          </a:p>
        </p:txBody>
      </p:sp>
      <p:sp>
        <p:nvSpPr>
          <p:cNvPr id="29" name="Shape 27"/>
          <p:cNvSpPr/>
          <p:nvPr/>
        </p:nvSpPr>
        <p:spPr>
          <a:xfrm>
            <a:off x="5074920" y="4197096"/>
            <a:ext cx="731520" cy="0"/>
          </a:xfrm>
          <a:prstGeom prst="line">
            <a:avLst/>
          </a:prstGeom>
          <a:noFill/>
          <a:ln w="16510">
            <a:solidFill>
              <a:srgbClr val="8B5CF6"/>
            </a:solidFill>
            <a:prstDash val="solid"/>
            <a:headEnd type="none"/>
            <a:tailEnd type="triangle"/>
          </a:ln>
        </p:spPr>
      </p:sp>
      <p:sp>
        <p:nvSpPr>
          <p:cNvPr id="30" name="Text 28"/>
          <p:cNvSpPr/>
          <p:nvPr/>
        </p:nvSpPr>
        <p:spPr>
          <a:xfrm>
            <a:off x="6053328" y="4087368"/>
            <a:ext cx="4434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4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request_id / trace_id 기반 End-to-End 추적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914400" y="4626864"/>
            <a:ext cx="99669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8E2F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143000" y="4782312"/>
            <a:ext cx="3291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2563E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05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1664208" y="4764024"/>
            <a:ext cx="3291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부가 기능 후보 다수</a:t>
            </a:r>
            <a:endParaRPr lang="en-US" sz="780" dirty="0"/>
          </a:p>
        </p:txBody>
      </p:sp>
      <p:sp>
        <p:nvSpPr>
          <p:cNvPr id="34" name="Shape 32"/>
          <p:cNvSpPr/>
          <p:nvPr/>
        </p:nvSpPr>
        <p:spPr>
          <a:xfrm>
            <a:off x="5074920" y="4855464"/>
            <a:ext cx="731520" cy="0"/>
          </a:xfrm>
          <a:prstGeom prst="line">
            <a:avLst/>
          </a:prstGeom>
          <a:noFill/>
          <a:ln w="16510">
            <a:solidFill>
              <a:srgbClr val="8B5CF6"/>
            </a:solidFill>
            <a:prstDash val="solid"/>
            <a:headEnd type="none"/>
            <a:tailEnd type="triangle"/>
          </a:ln>
        </p:spPr>
      </p:sp>
      <p:sp>
        <p:nvSpPr>
          <p:cNvPr id="35" name="Text 33"/>
          <p:cNvSpPr/>
          <p:nvPr/>
        </p:nvSpPr>
        <p:spPr>
          <a:xfrm>
            <a:off x="6053328" y="4745736"/>
            <a:ext cx="4434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4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비용 · 지연 · 토큰 · 실패 · 알림으로 MVP 범위 축소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585216" y="647395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2563E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OLLY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987552" y="647395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A7B2C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·  LLM 운영 관측성 MVP</a:t>
            </a:r>
            <a:endParaRPr lang="en-US" sz="670" dirty="0"/>
          </a:p>
        </p:txBody>
      </p:sp>
      <p:sp>
        <p:nvSpPr>
          <p:cNvPr id="38" name="Text 36"/>
          <p:cNvSpPr/>
          <p:nvPr/>
        </p:nvSpPr>
        <p:spPr>
          <a:xfrm>
            <a:off x="11045952" y="647395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670" dirty="0">
                <a:solidFill>
                  <a:srgbClr val="A7B2C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03 / 14</a:t>
            </a:r>
            <a:endParaRPr lang="en-US" sz="67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F"/>
          </a:solidFill>
          <a:ln w="12700">
            <a:solidFill>
              <a:srgbClr val="F7FA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3977640"/>
            <a:ext cx="4754880" cy="3108960"/>
          </a:xfrm>
          <a:prstGeom prst="ellipse">
            <a:avLst/>
          </a:prstGeom>
          <a:solidFill>
            <a:srgbClr val="DFF8F9">
              <a:alpha val="75000"/>
            </a:srgbClr>
          </a:solidFill>
          <a:ln w="12700">
            <a:solidFill>
              <a:srgbClr val="DFF8F9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78240" y="-1005840"/>
            <a:ext cx="3840480" cy="2011680"/>
          </a:xfrm>
          <a:prstGeom prst="ellipse">
            <a:avLst/>
          </a:prstGeom>
          <a:solidFill>
            <a:srgbClr val="EDEBFF">
              <a:alpha val="82000"/>
            </a:srgbClr>
          </a:solidFill>
          <a:ln w="12700">
            <a:solidFill>
              <a:srgbClr val="EDEB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85216" y="420624"/>
            <a:ext cx="310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2563E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03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932688" y="39319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2563E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목표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85216" y="694944"/>
            <a:ext cx="7772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OLLY의 목표: LLM 운영 질문에 답하기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85216" y="1124712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답변 채점기가 아니라, 운영자가 실제로 궁금해하는 질문에 답하는 관측성 MVP</a:t>
            </a:r>
            <a:endParaRPr lang="en-US" sz="860" dirty="0"/>
          </a:p>
        </p:txBody>
      </p:sp>
      <p:sp>
        <p:nvSpPr>
          <p:cNvPr id="9" name="Shape 7"/>
          <p:cNvSpPr/>
          <p:nvPr/>
        </p:nvSpPr>
        <p:spPr>
          <a:xfrm>
            <a:off x="777240" y="1664208"/>
            <a:ext cx="4526280" cy="3886200"/>
          </a:xfrm>
          <a:prstGeom prst="roundRect">
            <a:avLst>
              <a:gd name="adj" fmla="val 1412"/>
            </a:avLst>
          </a:prstGeom>
          <a:solidFill>
            <a:srgbClr val="FFFFFF"/>
          </a:solidFill>
          <a:ln w="10160">
            <a:solidFill>
              <a:srgbClr val="D8E2F1"/>
            </a:solidFill>
            <a:prstDash val="solid"/>
          </a:ln>
          <a:effectLst>
            <a:outerShdw sx="100000" sy="100000" kx="0" ky="0" algn="bl" rotWithShape="0" blurRad="15240" dist="50800" dir="2700000">
              <a:srgbClr val="D7DEEC">
                <a:alpha val="2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115568" y="190195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2563E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운영자가 던지는 질문</a:t>
            </a:r>
            <a:endParaRPr lang="en-US" sz="940" dirty="0"/>
          </a:p>
        </p:txBody>
      </p:sp>
      <p:sp>
        <p:nvSpPr>
          <p:cNvPr id="11" name="Shape 9"/>
          <p:cNvSpPr/>
          <p:nvPr/>
        </p:nvSpPr>
        <p:spPr>
          <a:xfrm>
            <a:off x="1143000" y="233172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3000" y="2409444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59E0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?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554480" y="2395728"/>
            <a:ext cx="338328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1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어제 왜 비용이 증가했는가?</a:t>
            </a:r>
            <a:endParaRPr lang="en-US" sz="710" dirty="0"/>
          </a:p>
        </p:txBody>
      </p:sp>
      <p:sp>
        <p:nvSpPr>
          <p:cNvPr id="14" name="Shape 12"/>
          <p:cNvSpPr/>
          <p:nvPr/>
        </p:nvSpPr>
        <p:spPr>
          <a:xfrm>
            <a:off x="1143000" y="286207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43000" y="2939796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563E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?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1554480" y="2926080"/>
            <a:ext cx="338328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1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어떤 기능이 토큰을 많이 쓰는가?</a:t>
            </a:r>
            <a:endParaRPr lang="en-US" sz="710" dirty="0"/>
          </a:p>
        </p:txBody>
      </p:sp>
      <p:sp>
        <p:nvSpPr>
          <p:cNvPr id="17" name="Shape 15"/>
          <p:cNvSpPr/>
          <p:nvPr/>
        </p:nvSpPr>
        <p:spPr>
          <a:xfrm>
            <a:off x="1143000" y="339242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43000" y="3470148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7C3AE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?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1554480" y="3456432"/>
            <a:ext cx="338328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1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응답 지연이 retrieve 때문인가, llm_call 때문인가?</a:t>
            </a:r>
            <a:endParaRPr lang="en-US" sz="710" dirty="0"/>
          </a:p>
        </p:txBody>
      </p:sp>
      <p:sp>
        <p:nvSpPr>
          <p:cNvPr id="20" name="Shape 18"/>
          <p:cNvSpPr/>
          <p:nvPr/>
        </p:nvSpPr>
        <p:spPr>
          <a:xfrm>
            <a:off x="1143000" y="392277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43000" y="4000500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43F5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?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554480" y="3986784"/>
            <a:ext cx="338328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1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실패 요청은 어떤 trace 에서 발생했는가?</a:t>
            </a:r>
            <a:endParaRPr lang="en-US" sz="710" dirty="0"/>
          </a:p>
        </p:txBody>
      </p:sp>
      <p:sp>
        <p:nvSpPr>
          <p:cNvPr id="23" name="Shape 21"/>
          <p:cNvSpPr/>
          <p:nvPr/>
        </p:nvSpPr>
        <p:spPr>
          <a:xfrm>
            <a:off x="1143000" y="445312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43000" y="4530852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0B98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?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1554480" y="4517136"/>
            <a:ext cx="338328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1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대시보드를 보지 않아도 이상 신호를 받을 수 있는가?</a:t>
            </a:r>
            <a:endParaRPr lang="en-US" sz="710" dirty="0"/>
          </a:p>
        </p:txBody>
      </p:sp>
      <p:sp>
        <p:nvSpPr>
          <p:cNvPr id="26" name="Shape 24"/>
          <p:cNvSpPr/>
          <p:nvPr/>
        </p:nvSpPr>
        <p:spPr>
          <a:xfrm>
            <a:off x="6400800" y="1664208"/>
            <a:ext cx="4434840" cy="3886200"/>
          </a:xfrm>
          <a:prstGeom prst="roundRect">
            <a:avLst>
              <a:gd name="adj" fmla="val 1412"/>
            </a:avLst>
          </a:prstGeom>
          <a:solidFill>
            <a:srgbClr val="201B4C"/>
          </a:solidFill>
          <a:ln w="10160">
            <a:solidFill>
              <a:srgbClr val="D8E2F1"/>
            </a:solidFill>
            <a:prstDash val="solid"/>
          </a:ln>
          <a:effectLst>
            <a:outerShdw sx="100000" sy="100000" kx="0" ky="0" algn="bl" rotWithShape="0" blurRad="15240" dist="50800" dir="2700000">
              <a:srgbClr val="D7DEEC">
                <a:alpha val="23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748272" y="190195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MVP 목표</a:t>
            </a:r>
            <a:endParaRPr lang="en-US" sz="940" dirty="0"/>
          </a:p>
        </p:txBody>
      </p:sp>
      <p:sp>
        <p:nvSpPr>
          <p:cNvPr id="28" name="Shape 26"/>
          <p:cNvSpPr/>
          <p:nvPr/>
        </p:nvSpPr>
        <p:spPr>
          <a:xfrm>
            <a:off x="6784848" y="237744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84848" y="2455164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$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7242048" y="2459736"/>
            <a:ext cx="3017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모델 · 기능별 비용 가시화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6784848" y="303580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84848" y="3113532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7242048" y="3118104"/>
            <a:ext cx="3017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요청 단위 병목 추적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6784848" y="369417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84848" y="3771900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7242048" y="3776472"/>
            <a:ext cx="3017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실시간 알림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6784848" y="435254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784848" y="4430268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ID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7242048" y="4434840"/>
            <a:ext cx="3017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request_id / trace_id 운영 흐름 연결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585216" y="647395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2563E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OLLY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987552" y="647395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A7B2C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·  LLM 운영 관측성 MVP</a:t>
            </a:r>
            <a:endParaRPr lang="en-US" sz="670" dirty="0"/>
          </a:p>
        </p:txBody>
      </p:sp>
      <p:sp>
        <p:nvSpPr>
          <p:cNvPr id="42" name="Text 40"/>
          <p:cNvSpPr/>
          <p:nvPr/>
        </p:nvSpPr>
        <p:spPr>
          <a:xfrm>
            <a:off x="11045952" y="647395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670" dirty="0">
                <a:solidFill>
                  <a:srgbClr val="A7B2C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04 / 14</a:t>
            </a:r>
            <a:endParaRPr lang="en-US" sz="67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F"/>
          </a:solidFill>
          <a:ln w="12700">
            <a:solidFill>
              <a:srgbClr val="F7FA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3977640"/>
            <a:ext cx="4754880" cy="3108960"/>
          </a:xfrm>
          <a:prstGeom prst="ellipse">
            <a:avLst/>
          </a:prstGeom>
          <a:solidFill>
            <a:srgbClr val="DFF8F9">
              <a:alpha val="75000"/>
            </a:srgbClr>
          </a:solidFill>
          <a:ln w="12700">
            <a:solidFill>
              <a:srgbClr val="DFF8F9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78240" y="-1005840"/>
            <a:ext cx="3840480" cy="2011680"/>
          </a:xfrm>
          <a:prstGeom prst="ellipse">
            <a:avLst/>
          </a:prstGeom>
          <a:solidFill>
            <a:srgbClr val="EDEBFF">
              <a:alpha val="82000"/>
            </a:srgbClr>
          </a:solidFill>
          <a:ln w="12700">
            <a:solidFill>
              <a:srgbClr val="EDEB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85216" y="420624"/>
            <a:ext cx="310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2563E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04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932688" y="39319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2563E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최종 아키텍처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85216" y="694944"/>
            <a:ext cx="7772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사용자 요청 처리 · 관측 데이터 수집 · 운영 분석을 분리했다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85216" y="1124712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업무 로직과 관측 파이프라인을 독립적으로 확장하기 위한 구조</a:t>
            </a:r>
            <a:endParaRPr lang="en-US" sz="860" dirty="0"/>
          </a:p>
        </p:txBody>
      </p:sp>
      <p:sp>
        <p:nvSpPr>
          <p:cNvPr id="9" name="Shape 7"/>
          <p:cNvSpPr/>
          <p:nvPr/>
        </p:nvSpPr>
        <p:spPr>
          <a:xfrm>
            <a:off x="594360" y="1673352"/>
            <a:ext cx="3429000" cy="3931920"/>
          </a:xfrm>
          <a:prstGeom prst="roundRect">
            <a:avLst>
              <a:gd name="adj" fmla="val 2133"/>
            </a:avLst>
          </a:prstGeom>
          <a:solidFill>
            <a:srgbClr val="F3F7FE"/>
          </a:solidFill>
          <a:ln w="12700">
            <a:solidFill>
              <a:srgbClr val="D8E2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8952" y="1837944"/>
            <a:ext cx="2011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Interface &amp; Rule Input</a:t>
            </a:r>
            <a:endParaRPr lang="en-US" sz="600" dirty="0"/>
          </a:p>
        </p:txBody>
      </p:sp>
      <p:sp>
        <p:nvSpPr>
          <p:cNvPr id="11" name="Shape 9"/>
          <p:cNvSpPr/>
          <p:nvPr/>
        </p:nvSpPr>
        <p:spPr>
          <a:xfrm>
            <a:off x="4187952" y="1673352"/>
            <a:ext cx="3520440" cy="3931920"/>
          </a:xfrm>
          <a:prstGeom prst="roundRect">
            <a:avLst>
              <a:gd name="adj" fmla="val 2078"/>
            </a:avLst>
          </a:prstGeom>
          <a:solidFill>
            <a:srgbClr val="EEF5FF"/>
          </a:solidFill>
          <a:ln w="12700">
            <a:solidFill>
              <a:srgbClr val="D8E2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52544" y="1837944"/>
            <a:ext cx="2011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OLLY Application</a:t>
            </a:r>
            <a:endParaRPr lang="en-US" sz="600" dirty="0"/>
          </a:p>
        </p:txBody>
      </p:sp>
      <p:sp>
        <p:nvSpPr>
          <p:cNvPr id="13" name="Shape 11"/>
          <p:cNvSpPr/>
          <p:nvPr/>
        </p:nvSpPr>
        <p:spPr>
          <a:xfrm>
            <a:off x="7891272" y="1673352"/>
            <a:ext cx="3474720" cy="3931920"/>
          </a:xfrm>
          <a:prstGeom prst="roundRect">
            <a:avLst>
              <a:gd name="adj" fmla="val 2105"/>
            </a:avLst>
          </a:prstGeom>
          <a:solidFill>
            <a:srgbClr val="ECFDF5"/>
          </a:solidFill>
          <a:ln w="12700">
            <a:solidFill>
              <a:srgbClr val="D8E2F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55864" y="1837944"/>
            <a:ext cx="2011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CNCF Observability</a:t>
            </a:r>
            <a:endParaRPr lang="en-US" sz="600" dirty="0"/>
          </a:p>
        </p:txBody>
      </p:sp>
      <p:sp>
        <p:nvSpPr>
          <p:cNvPr id="15" name="Shape 13"/>
          <p:cNvSpPr/>
          <p:nvPr/>
        </p:nvSpPr>
        <p:spPr>
          <a:xfrm>
            <a:off x="960120" y="2267712"/>
            <a:ext cx="123444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0160">
            <a:solidFill>
              <a:srgbClr val="D8E2F1"/>
            </a:solidFill>
            <a:prstDash val="solid"/>
          </a:ln>
          <a:effectLst>
            <a:outerShdw sx="100000" sy="100000" kx="0" ky="0" algn="bl" rotWithShape="0" blurRad="15240" dist="50800" dir="2700000">
              <a:srgbClr val="D7DEEC">
                <a:alpha val="23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124712" y="2450592"/>
            <a:ext cx="8229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사용자</a:t>
            </a:r>
            <a:endParaRPr lang="en-US" sz="730" dirty="0"/>
          </a:p>
        </p:txBody>
      </p:sp>
      <p:sp>
        <p:nvSpPr>
          <p:cNvPr id="17" name="Shape 15"/>
          <p:cNvSpPr/>
          <p:nvPr/>
        </p:nvSpPr>
        <p:spPr>
          <a:xfrm>
            <a:off x="2542032" y="2121408"/>
            <a:ext cx="114300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0160">
            <a:solidFill>
              <a:srgbClr val="D8E2F1"/>
            </a:solidFill>
            <a:prstDash val="solid"/>
          </a:ln>
          <a:effectLst>
            <a:outerShdw sx="100000" sy="100000" kx="0" ky="0" algn="bl" rotWithShape="0" blurRad="15240" dist="50800" dir="2700000">
              <a:srgbClr val="D7DEEC">
                <a:alpha val="23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697480" y="2331720"/>
            <a:ext cx="8229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Chat UI</a:t>
            </a:r>
            <a:endParaRPr lang="en-US" sz="760" dirty="0"/>
          </a:p>
        </p:txBody>
      </p:sp>
      <p:sp>
        <p:nvSpPr>
          <p:cNvPr id="19" name="Text 17"/>
          <p:cNvSpPr/>
          <p:nvPr/>
        </p:nvSpPr>
        <p:spPr>
          <a:xfrm>
            <a:off x="2688336" y="2542032"/>
            <a:ext cx="8229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56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질문 생성</a:t>
            </a:r>
            <a:endParaRPr lang="en-US" sz="560" dirty="0"/>
          </a:p>
        </p:txBody>
      </p:sp>
      <p:sp>
        <p:nvSpPr>
          <p:cNvPr id="20" name="Shape 18"/>
          <p:cNvSpPr/>
          <p:nvPr/>
        </p:nvSpPr>
        <p:spPr>
          <a:xfrm>
            <a:off x="2212848" y="2514600"/>
            <a:ext cx="329184" cy="0"/>
          </a:xfrm>
          <a:prstGeom prst="line">
            <a:avLst/>
          </a:prstGeom>
          <a:noFill/>
          <a:ln w="1651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553712" y="2157984"/>
            <a:ext cx="1051560" cy="612648"/>
          </a:xfrm>
          <a:prstGeom prst="roundRect">
            <a:avLst>
              <a:gd name="adj" fmla="val 8955"/>
            </a:avLst>
          </a:prstGeom>
          <a:solidFill>
            <a:srgbClr val="EFF6FF"/>
          </a:solidFill>
          <a:ln w="10160">
            <a:solidFill>
              <a:srgbClr val="93C5FD"/>
            </a:solidFill>
            <a:prstDash val="solid"/>
          </a:ln>
          <a:effectLst>
            <a:outerShdw sx="100000" sy="100000" kx="0" ky="0" algn="bl" rotWithShape="0" blurRad="15240" dist="50800" dir="2700000">
              <a:srgbClr val="D7DEEC">
                <a:alpha val="23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690872" y="2340864"/>
            <a:ext cx="758952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2563E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/chat API</a:t>
            </a:r>
            <a:endParaRPr lang="en-US" sz="720" dirty="0"/>
          </a:p>
        </p:txBody>
      </p:sp>
      <p:sp>
        <p:nvSpPr>
          <p:cNvPr id="23" name="Text 21"/>
          <p:cNvSpPr/>
          <p:nvPr/>
        </p:nvSpPr>
        <p:spPr>
          <a:xfrm>
            <a:off x="4718304" y="2514600"/>
            <a:ext cx="658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5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request_id</a:t>
            </a:r>
            <a:endParaRPr lang="en-US" sz="500" dirty="0"/>
          </a:p>
          <a:p>
            <a:pPr algn="ctr" indent="0" marL="0">
              <a:buNone/>
            </a:pPr>
            <a:r>
              <a:rPr lang="en-US" sz="5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trace_id</a:t>
            </a:r>
            <a:endParaRPr lang="en-US" sz="500" dirty="0"/>
          </a:p>
        </p:txBody>
      </p:sp>
      <p:sp>
        <p:nvSpPr>
          <p:cNvPr id="24" name="Shape 22"/>
          <p:cNvSpPr/>
          <p:nvPr/>
        </p:nvSpPr>
        <p:spPr>
          <a:xfrm>
            <a:off x="3685032" y="2514600"/>
            <a:ext cx="868680" cy="0"/>
          </a:xfrm>
          <a:prstGeom prst="line">
            <a:avLst/>
          </a:prstGeom>
          <a:noFill/>
          <a:ln w="1651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6144768" y="1874520"/>
            <a:ext cx="137160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0160">
            <a:solidFill>
              <a:srgbClr val="D8E2F1"/>
            </a:solidFill>
            <a:prstDash val="solid"/>
          </a:ln>
          <a:effectLst>
            <a:outerShdw sx="100000" sy="100000" kx="0" ky="0" algn="bl" rotWithShape="0" blurRad="15240" dist="50800" dir="2700000">
              <a:srgbClr val="D7DEEC">
                <a:alpha val="23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309360" y="2002536"/>
            <a:ext cx="10058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retrieve</a:t>
            </a:r>
            <a:endParaRPr lang="en-US" sz="820" dirty="0"/>
          </a:p>
        </p:txBody>
      </p:sp>
      <p:sp>
        <p:nvSpPr>
          <p:cNvPr id="27" name="Text 25"/>
          <p:cNvSpPr/>
          <p:nvPr/>
        </p:nvSpPr>
        <p:spPr>
          <a:xfrm>
            <a:off x="6291072" y="2185416"/>
            <a:ext cx="105156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54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검색 / 문맥 준비</a:t>
            </a:r>
            <a:endParaRPr lang="en-US" sz="540" dirty="0"/>
          </a:p>
        </p:txBody>
      </p:sp>
      <p:sp>
        <p:nvSpPr>
          <p:cNvPr id="28" name="Shape 26"/>
          <p:cNvSpPr/>
          <p:nvPr/>
        </p:nvSpPr>
        <p:spPr>
          <a:xfrm>
            <a:off x="5605272" y="2459736"/>
            <a:ext cx="539496" cy="-338328"/>
          </a:xfrm>
          <a:prstGeom prst="line">
            <a:avLst/>
          </a:prstGeom>
          <a:noFill/>
          <a:ln w="1651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6144768" y="2743200"/>
            <a:ext cx="137160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0160">
            <a:solidFill>
              <a:srgbClr val="D8E2F1"/>
            </a:solidFill>
            <a:prstDash val="solid"/>
          </a:ln>
          <a:effectLst>
            <a:outerShdw sx="100000" sy="100000" kx="0" ky="0" algn="bl" rotWithShape="0" blurRad="15240" dist="50800" dir="2700000">
              <a:srgbClr val="D7DEEC">
                <a:alpha val="23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309360" y="2871216"/>
            <a:ext cx="10058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llm_call</a:t>
            </a:r>
            <a:endParaRPr lang="en-US" sz="820" dirty="0"/>
          </a:p>
        </p:txBody>
      </p:sp>
      <p:sp>
        <p:nvSpPr>
          <p:cNvPr id="31" name="Text 29"/>
          <p:cNvSpPr/>
          <p:nvPr/>
        </p:nvSpPr>
        <p:spPr>
          <a:xfrm>
            <a:off x="6291072" y="3054096"/>
            <a:ext cx="105156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54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Ollama gemma3:1b</a:t>
            </a:r>
            <a:endParaRPr lang="en-US" sz="540" dirty="0"/>
          </a:p>
        </p:txBody>
      </p:sp>
      <p:sp>
        <p:nvSpPr>
          <p:cNvPr id="32" name="Shape 30"/>
          <p:cNvSpPr/>
          <p:nvPr/>
        </p:nvSpPr>
        <p:spPr>
          <a:xfrm>
            <a:off x="5605272" y="2459736"/>
            <a:ext cx="539496" cy="530352"/>
          </a:xfrm>
          <a:prstGeom prst="line">
            <a:avLst/>
          </a:prstGeom>
          <a:noFill/>
          <a:ln w="1651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6144768" y="3611880"/>
            <a:ext cx="137160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0160">
            <a:solidFill>
              <a:srgbClr val="D8E2F1"/>
            </a:solidFill>
            <a:prstDash val="solid"/>
          </a:ln>
          <a:effectLst>
            <a:outerShdw sx="100000" sy="100000" kx="0" ky="0" algn="bl" rotWithShape="0" blurRad="15240" dist="50800" dir="2700000">
              <a:srgbClr val="D7DEEC">
                <a:alpha val="23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309360" y="3739896"/>
            <a:ext cx="10058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postprocess</a:t>
            </a:r>
            <a:endParaRPr lang="en-US" sz="820" dirty="0"/>
          </a:p>
        </p:txBody>
      </p:sp>
      <p:sp>
        <p:nvSpPr>
          <p:cNvPr id="35" name="Text 33"/>
          <p:cNvSpPr/>
          <p:nvPr/>
        </p:nvSpPr>
        <p:spPr>
          <a:xfrm>
            <a:off x="6291072" y="3922776"/>
            <a:ext cx="105156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54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응답 정리</a:t>
            </a:r>
            <a:endParaRPr lang="en-US" sz="540" dirty="0"/>
          </a:p>
        </p:txBody>
      </p:sp>
      <p:sp>
        <p:nvSpPr>
          <p:cNvPr id="36" name="Shape 34"/>
          <p:cNvSpPr/>
          <p:nvPr/>
        </p:nvSpPr>
        <p:spPr>
          <a:xfrm>
            <a:off x="5605272" y="2459736"/>
            <a:ext cx="539496" cy="1399032"/>
          </a:xfrm>
          <a:prstGeom prst="line">
            <a:avLst/>
          </a:prstGeom>
          <a:noFill/>
          <a:ln w="1651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4709160" y="4526280"/>
            <a:ext cx="1371600" cy="502920"/>
          </a:xfrm>
          <a:prstGeom prst="roundRect">
            <a:avLst>
              <a:gd name="adj" fmla="val 10909"/>
            </a:avLst>
          </a:prstGeom>
          <a:solidFill>
            <a:srgbClr val="F5F3FF"/>
          </a:solidFill>
          <a:ln w="10160">
            <a:solidFill>
              <a:srgbClr val="C4B5FD"/>
            </a:solidFill>
            <a:prstDash val="solid"/>
          </a:ln>
          <a:effectLst>
            <a:outerShdw sx="100000" sy="100000" kx="0" ky="0" algn="bl" rotWithShape="0" blurRad="15240" dist="50800" dir="2700000">
              <a:srgbClr val="D7DEEC">
                <a:alpha val="23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4864608" y="4663440"/>
            <a:ext cx="10789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7C3AE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OpenTelemetry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6419088" y="4526280"/>
            <a:ext cx="1143000" cy="502920"/>
          </a:xfrm>
          <a:prstGeom prst="roundRect">
            <a:avLst>
              <a:gd name="adj" fmla="val 10909"/>
            </a:avLst>
          </a:prstGeom>
          <a:solidFill>
            <a:srgbClr val="F5F3FF"/>
          </a:solidFill>
          <a:ln w="10160">
            <a:solidFill>
              <a:srgbClr val="C4B5FD"/>
            </a:solidFill>
            <a:prstDash val="solid"/>
          </a:ln>
          <a:effectLst>
            <a:outerShdw sx="100000" sy="100000" kx="0" ky="0" algn="bl" rotWithShape="0" blurRad="15240" dist="50800" dir="2700000">
              <a:srgbClr val="D7DEEC">
                <a:alpha val="23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6537960" y="4672584"/>
            <a:ext cx="9144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7C3AE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OTel Collector</a:t>
            </a:r>
            <a:endParaRPr lang="en-US" sz="670" dirty="0"/>
          </a:p>
        </p:txBody>
      </p:sp>
      <p:sp>
        <p:nvSpPr>
          <p:cNvPr id="41" name="Shape 39"/>
          <p:cNvSpPr/>
          <p:nvPr/>
        </p:nvSpPr>
        <p:spPr>
          <a:xfrm>
            <a:off x="5074920" y="2779776"/>
            <a:ext cx="0" cy="1746504"/>
          </a:xfrm>
          <a:prstGeom prst="line">
            <a:avLst/>
          </a:prstGeom>
          <a:noFill/>
          <a:ln w="1651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6080760" y="4782312"/>
            <a:ext cx="338328" cy="0"/>
          </a:xfrm>
          <a:prstGeom prst="line">
            <a:avLst/>
          </a:prstGeom>
          <a:noFill/>
          <a:ln w="16510">
            <a:solidFill>
              <a:srgbClr val="7C3AED"/>
            </a:solidFill>
            <a:prstDash val="solid"/>
            <a:headEnd type="none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8449056" y="2395728"/>
            <a:ext cx="164592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0160">
            <a:solidFill>
              <a:srgbClr val="D8E2F1"/>
            </a:solidFill>
            <a:prstDash val="solid"/>
          </a:ln>
          <a:effectLst>
            <a:outerShdw sx="100000" sy="100000" kx="0" ky="0" algn="bl" rotWithShape="0" blurRad="15240" dist="50800" dir="2700000">
              <a:srgbClr val="D7DEEC">
                <a:alpha val="23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8705088" y="2551176"/>
            <a:ext cx="1143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Dashboard API</a:t>
            </a:r>
            <a:endParaRPr lang="en-US" sz="680" dirty="0"/>
          </a:p>
        </p:txBody>
      </p:sp>
      <p:sp>
        <p:nvSpPr>
          <p:cNvPr id="45" name="Shape 43"/>
          <p:cNvSpPr/>
          <p:nvPr/>
        </p:nvSpPr>
        <p:spPr>
          <a:xfrm>
            <a:off x="8302752" y="3401568"/>
            <a:ext cx="1920240" cy="566928"/>
          </a:xfrm>
          <a:prstGeom prst="roundRect">
            <a:avLst>
              <a:gd name="adj" fmla="val 9677"/>
            </a:avLst>
          </a:prstGeom>
          <a:solidFill>
            <a:srgbClr val="D1FAE5"/>
          </a:solidFill>
          <a:ln w="10160">
            <a:solidFill>
              <a:srgbClr val="86EFAC"/>
            </a:solidFill>
            <a:prstDash val="solid"/>
          </a:ln>
          <a:effectLst>
            <a:outerShdw sx="100000" sy="100000" kx="0" ky="0" algn="bl" rotWithShape="0" blurRad="15240" dist="50800" dir="2700000">
              <a:srgbClr val="D7DEEC">
                <a:alpha val="23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8631936" y="3547872"/>
            <a:ext cx="1143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Prometheus</a:t>
            </a:r>
            <a:endParaRPr lang="en-US" sz="740" dirty="0"/>
          </a:p>
        </p:txBody>
      </p:sp>
      <p:sp>
        <p:nvSpPr>
          <p:cNvPr id="47" name="Text 45"/>
          <p:cNvSpPr/>
          <p:nvPr/>
        </p:nvSpPr>
        <p:spPr>
          <a:xfrm>
            <a:off x="8732520" y="3749040"/>
            <a:ext cx="9144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540" dirty="0">
                <a:solidFill>
                  <a:srgbClr val="04785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metric · alert</a:t>
            </a:r>
            <a:endParaRPr lang="en-US" sz="540" dirty="0"/>
          </a:p>
        </p:txBody>
      </p:sp>
      <p:sp>
        <p:nvSpPr>
          <p:cNvPr id="48" name="Shape 46"/>
          <p:cNvSpPr/>
          <p:nvPr/>
        </p:nvSpPr>
        <p:spPr>
          <a:xfrm>
            <a:off x="8302752" y="4462272"/>
            <a:ext cx="1920240" cy="566928"/>
          </a:xfrm>
          <a:prstGeom prst="roundRect">
            <a:avLst>
              <a:gd name="adj" fmla="val 9677"/>
            </a:avLst>
          </a:prstGeom>
          <a:solidFill>
            <a:srgbClr val="F5F3FF"/>
          </a:solidFill>
          <a:ln w="10160">
            <a:solidFill>
              <a:srgbClr val="C4B5FD"/>
            </a:solidFill>
            <a:prstDash val="solid"/>
          </a:ln>
          <a:effectLst>
            <a:outerShdw sx="100000" sy="100000" kx="0" ky="0" algn="bl" rotWithShape="0" blurRad="15240" dist="50800" dir="2700000">
              <a:srgbClr val="D7DEEC">
                <a:alpha val="23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8814816" y="4608576"/>
            <a:ext cx="9144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7C3AE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Jaeger</a:t>
            </a:r>
            <a:endParaRPr lang="en-US" sz="740" dirty="0"/>
          </a:p>
        </p:txBody>
      </p:sp>
      <p:sp>
        <p:nvSpPr>
          <p:cNvPr id="50" name="Text 48"/>
          <p:cNvSpPr/>
          <p:nvPr/>
        </p:nvSpPr>
        <p:spPr>
          <a:xfrm>
            <a:off x="8668512" y="4809744"/>
            <a:ext cx="11887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540" dirty="0">
                <a:solidFill>
                  <a:srgbClr val="7C3AE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request trace · span</a:t>
            </a:r>
            <a:endParaRPr lang="en-US" sz="540" dirty="0"/>
          </a:p>
        </p:txBody>
      </p:sp>
      <p:sp>
        <p:nvSpPr>
          <p:cNvPr id="51" name="Shape 49"/>
          <p:cNvSpPr/>
          <p:nvPr/>
        </p:nvSpPr>
        <p:spPr>
          <a:xfrm>
            <a:off x="7562088" y="4782312"/>
            <a:ext cx="740664" cy="-1097280"/>
          </a:xfrm>
          <a:prstGeom prst="line">
            <a:avLst/>
          </a:prstGeom>
          <a:noFill/>
          <a:ln w="16510">
            <a:solidFill>
              <a:srgbClr val="10B981"/>
            </a:solidFill>
            <a:prstDash val="solid"/>
            <a:headEnd type="none"/>
            <a:tailEnd type="triangle"/>
          </a:ln>
        </p:spPr>
      </p:sp>
      <p:sp>
        <p:nvSpPr>
          <p:cNvPr id="52" name="Shape 50"/>
          <p:cNvSpPr/>
          <p:nvPr/>
        </p:nvSpPr>
        <p:spPr>
          <a:xfrm>
            <a:off x="7562088" y="4782312"/>
            <a:ext cx="740664" cy="-36576"/>
          </a:xfrm>
          <a:prstGeom prst="line">
            <a:avLst/>
          </a:prstGeom>
          <a:noFill/>
          <a:ln w="16510">
            <a:solidFill>
              <a:srgbClr val="7C3AED"/>
            </a:solidFill>
            <a:prstDash val="solid"/>
            <a:headEnd type="none"/>
            <a:tailEnd type="triangle"/>
          </a:ln>
        </p:spPr>
      </p:sp>
      <p:sp>
        <p:nvSpPr>
          <p:cNvPr id="53" name="Shape 51"/>
          <p:cNvSpPr/>
          <p:nvPr/>
        </p:nvSpPr>
        <p:spPr>
          <a:xfrm>
            <a:off x="9098280" y="3968496"/>
            <a:ext cx="0" cy="493776"/>
          </a:xfrm>
          <a:prstGeom prst="line">
            <a:avLst/>
          </a:prstGeom>
          <a:noFill/>
          <a:ln w="1651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54" name="Shape 52"/>
          <p:cNvSpPr/>
          <p:nvPr/>
        </p:nvSpPr>
        <p:spPr>
          <a:xfrm>
            <a:off x="960120" y="4160520"/>
            <a:ext cx="1417320" cy="493776"/>
          </a:xfrm>
          <a:prstGeom prst="roundRect">
            <a:avLst>
              <a:gd name="adj" fmla="val 11111"/>
            </a:avLst>
          </a:prstGeom>
          <a:solidFill>
            <a:srgbClr val="FFF7ED"/>
          </a:solidFill>
          <a:ln w="10160">
            <a:solidFill>
              <a:srgbClr val="FDBA74"/>
            </a:solidFill>
            <a:prstDash val="solid"/>
          </a:ln>
          <a:effectLst>
            <a:outerShdw sx="100000" sy="100000" kx="0" ky="0" algn="bl" rotWithShape="0" blurRad="15240" dist="50800" dir="2700000">
              <a:srgbClr val="D7DEEC">
                <a:alpha val="23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1207008" y="4315968"/>
            <a:ext cx="868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59E0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Alert Rule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2743200" y="4160520"/>
            <a:ext cx="1051560" cy="493776"/>
          </a:xfrm>
          <a:prstGeom prst="roundRect">
            <a:avLst>
              <a:gd name="adj" fmla="val 11111"/>
            </a:avLst>
          </a:prstGeom>
          <a:solidFill>
            <a:srgbClr val="FFFBEB"/>
          </a:solidFill>
          <a:ln w="10160">
            <a:solidFill>
              <a:srgbClr val="FBBF24"/>
            </a:solidFill>
            <a:prstDash val="solid"/>
          </a:ln>
          <a:effectLst>
            <a:outerShdw sx="100000" sy="100000" kx="0" ky="0" algn="bl" rotWithShape="0" blurRad="15240" dist="50800" dir="2700000">
              <a:srgbClr val="D7DEEC">
                <a:alpha val="23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2871216" y="4315968"/>
            <a:ext cx="7955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F59E0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AlertStore</a:t>
            </a:r>
            <a:endParaRPr lang="en-US" sz="690" dirty="0"/>
          </a:p>
        </p:txBody>
      </p:sp>
      <p:sp>
        <p:nvSpPr>
          <p:cNvPr id="58" name="Shape 56"/>
          <p:cNvSpPr/>
          <p:nvPr/>
        </p:nvSpPr>
        <p:spPr>
          <a:xfrm>
            <a:off x="2377440" y="4407408"/>
            <a:ext cx="365760" cy="0"/>
          </a:xfrm>
          <a:prstGeom prst="line">
            <a:avLst/>
          </a:prstGeom>
          <a:noFill/>
          <a:ln w="16510">
            <a:solidFill>
              <a:srgbClr val="F59E0B"/>
            </a:solidFill>
            <a:prstDash val="solid"/>
            <a:headEnd type="none"/>
            <a:tailEnd type="triangle"/>
          </a:ln>
        </p:spPr>
      </p:sp>
      <p:sp>
        <p:nvSpPr>
          <p:cNvPr id="59" name="Shape 57"/>
          <p:cNvSpPr/>
          <p:nvPr/>
        </p:nvSpPr>
        <p:spPr>
          <a:xfrm>
            <a:off x="7516368" y="5486400"/>
            <a:ext cx="1325880" cy="411480"/>
          </a:xfrm>
          <a:prstGeom prst="roundRect">
            <a:avLst>
              <a:gd name="adj" fmla="val 13333"/>
            </a:avLst>
          </a:prstGeom>
          <a:solidFill>
            <a:srgbClr val="FFFBEB"/>
          </a:solidFill>
          <a:ln w="10160">
            <a:solidFill>
              <a:srgbClr val="FBBF24"/>
            </a:solidFill>
            <a:prstDash val="solid"/>
          </a:ln>
          <a:effectLst>
            <a:outerShdw sx="100000" sy="100000" kx="0" ky="0" algn="bl" rotWithShape="0" blurRad="15240" dist="50800" dir="2700000">
              <a:srgbClr val="D7DEEC">
                <a:alpha val="23000"/>
              </a:srgbClr>
            </a:outerShdw>
          </a:effectLst>
        </p:spPr>
      </p:sp>
      <p:sp>
        <p:nvSpPr>
          <p:cNvPr id="60" name="Text 58"/>
          <p:cNvSpPr/>
          <p:nvPr/>
        </p:nvSpPr>
        <p:spPr>
          <a:xfrm>
            <a:off x="7699248" y="5614416"/>
            <a:ext cx="96012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F59E0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AlertEvaluator</a:t>
            </a:r>
            <a:endParaRPr lang="en-US" sz="640" dirty="0"/>
          </a:p>
        </p:txBody>
      </p:sp>
      <p:sp>
        <p:nvSpPr>
          <p:cNvPr id="61" name="Shape 59"/>
          <p:cNvSpPr/>
          <p:nvPr/>
        </p:nvSpPr>
        <p:spPr>
          <a:xfrm>
            <a:off x="9281160" y="5486400"/>
            <a:ext cx="1463040" cy="411480"/>
          </a:xfrm>
          <a:prstGeom prst="roundRect">
            <a:avLst>
              <a:gd name="adj" fmla="val 13333"/>
            </a:avLst>
          </a:prstGeom>
          <a:solidFill>
            <a:srgbClr val="FFF1F2"/>
          </a:solidFill>
          <a:ln w="10160">
            <a:solidFill>
              <a:srgbClr val="FDA4AF"/>
            </a:solidFill>
            <a:prstDash val="solid"/>
          </a:ln>
          <a:effectLst>
            <a:outerShdw sx="100000" sy="100000" kx="0" ky="0" algn="bl" rotWithShape="0" blurRad="15240" dist="50800" dir="2700000">
              <a:srgbClr val="D7DEEC">
                <a:alpha val="23000"/>
              </a:srgbClr>
            </a:outerShdw>
          </a:effectLst>
        </p:spPr>
      </p:sp>
      <p:sp>
        <p:nvSpPr>
          <p:cNvPr id="62" name="Text 60"/>
          <p:cNvSpPr/>
          <p:nvPr/>
        </p:nvSpPr>
        <p:spPr>
          <a:xfrm>
            <a:off x="9482328" y="5614416"/>
            <a:ext cx="1060704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F43F5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Discord Webhook</a:t>
            </a:r>
            <a:endParaRPr lang="en-US" sz="630" dirty="0"/>
          </a:p>
        </p:txBody>
      </p:sp>
      <p:sp>
        <p:nvSpPr>
          <p:cNvPr id="63" name="Shape 61"/>
          <p:cNvSpPr/>
          <p:nvPr/>
        </p:nvSpPr>
        <p:spPr>
          <a:xfrm>
            <a:off x="3794760" y="4407408"/>
            <a:ext cx="3721608" cy="1261872"/>
          </a:xfrm>
          <a:prstGeom prst="line">
            <a:avLst/>
          </a:prstGeom>
          <a:noFill/>
          <a:ln w="16510">
            <a:solidFill>
              <a:srgbClr val="F59E0B"/>
            </a:solidFill>
            <a:prstDash val="solid"/>
            <a:headEnd type="none"/>
            <a:tailEnd type="triangle"/>
          </a:ln>
        </p:spPr>
      </p:sp>
      <p:sp>
        <p:nvSpPr>
          <p:cNvPr id="64" name="Shape 62"/>
          <p:cNvSpPr/>
          <p:nvPr/>
        </p:nvSpPr>
        <p:spPr>
          <a:xfrm>
            <a:off x="8842248" y="5687568"/>
            <a:ext cx="438912" cy="0"/>
          </a:xfrm>
          <a:prstGeom prst="line">
            <a:avLst/>
          </a:prstGeom>
          <a:noFill/>
          <a:ln w="16510">
            <a:solidFill>
              <a:srgbClr val="F59E0B"/>
            </a:solidFill>
            <a:prstDash val="solid"/>
            <a:headEnd type="none"/>
            <a:tailEnd type="triangle"/>
          </a:ln>
        </p:spPr>
      </p:sp>
      <p:sp>
        <p:nvSpPr>
          <p:cNvPr id="65" name="Text 63"/>
          <p:cNvSpPr/>
          <p:nvPr/>
        </p:nvSpPr>
        <p:spPr>
          <a:xfrm>
            <a:off x="585216" y="647395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2563E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OLLY</a:t>
            </a:r>
            <a:endParaRPr lang="en-US" sz="700" dirty="0"/>
          </a:p>
        </p:txBody>
      </p:sp>
      <p:sp>
        <p:nvSpPr>
          <p:cNvPr id="66" name="Text 64"/>
          <p:cNvSpPr/>
          <p:nvPr/>
        </p:nvSpPr>
        <p:spPr>
          <a:xfrm>
            <a:off x="987552" y="647395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A7B2C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·  LLM 운영 관측성 MVP</a:t>
            </a:r>
            <a:endParaRPr lang="en-US" sz="670" dirty="0"/>
          </a:p>
        </p:txBody>
      </p:sp>
      <p:sp>
        <p:nvSpPr>
          <p:cNvPr id="67" name="Text 65"/>
          <p:cNvSpPr/>
          <p:nvPr/>
        </p:nvSpPr>
        <p:spPr>
          <a:xfrm>
            <a:off x="11045952" y="647395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670" dirty="0">
                <a:solidFill>
                  <a:srgbClr val="A7B2C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05 / 14</a:t>
            </a:r>
            <a:endParaRPr lang="en-US" sz="67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F"/>
          </a:solidFill>
          <a:ln w="12700">
            <a:solidFill>
              <a:srgbClr val="F7FA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3977640"/>
            <a:ext cx="4754880" cy="3108960"/>
          </a:xfrm>
          <a:prstGeom prst="ellipse">
            <a:avLst/>
          </a:prstGeom>
          <a:solidFill>
            <a:srgbClr val="DFF8F9">
              <a:alpha val="75000"/>
            </a:srgbClr>
          </a:solidFill>
          <a:ln w="12700">
            <a:solidFill>
              <a:srgbClr val="DFF8F9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78240" y="-1005840"/>
            <a:ext cx="3840480" cy="2011680"/>
          </a:xfrm>
          <a:prstGeom prst="ellipse">
            <a:avLst/>
          </a:prstGeom>
          <a:solidFill>
            <a:srgbClr val="EDEBFF">
              <a:alpha val="82000"/>
            </a:srgbClr>
          </a:solidFill>
          <a:ln w="12700">
            <a:solidFill>
              <a:srgbClr val="EDEB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85216" y="420624"/>
            <a:ext cx="310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2563E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05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932688" y="39319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2563E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CNCF 접목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85216" y="694944"/>
            <a:ext cx="7772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CNCF 프로젝트가 실제로 어떤 역할을 했는가?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85216" y="1124712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각 오픈소스 도구에 실제 운영 역할을 부여했다</a:t>
            </a:r>
            <a:endParaRPr lang="en-US" sz="860" dirty="0"/>
          </a:p>
        </p:txBody>
      </p:sp>
      <p:sp>
        <p:nvSpPr>
          <p:cNvPr id="9" name="Shape 7"/>
          <p:cNvSpPr/>
          <p:nvPr/>
        </p:nvSpPr>
        <p:spPr>
          <a:xfrm>
            <a:off x="658368" y="1847088"/>
            <a:ext cx="1865376" cy="2176272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0160">
            <a:solidFill>
              <a:srgbClr val="D8E2F1"/>
            </a:solidFill>
            <a:prstDash val="solid"/>
          </a:ln>
          <a:effectLst>
            <a:outerShdw sx="100000" sy="100000" kx="0" ky="0" algn="bl" rotWithShape="0" blurRad="15240" dist="50800" dir="2700000">
              <a:srgbClr val="D7DEEC">
                <a:alpha val="2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426464" y="214884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5F7FF"/>
          </a:solidFill>
          <a:ln w="12700">
            <a:solidFill>
              <a:srgbClr val="F5F7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26464" y="2226564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563E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K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822960" y="2633472"/>
            <a:ext cx="153619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Kubernetes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822960" y="2971800"/>
            <a:ext cx="1536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57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전체 스택 배포와 서비스 연결</a:t>
            </a:r>
            <a:endParaRPr lang="en-US" sz="570" dirty="0"/>
          </a:p>
        </p:txBody>
      </p:sp>
      <p:sp>
        <p:nvSpPr>
          <p:cNvPr id="14" name="Text 12"/>
          <p:cNvSpPr/>
          <p:nvPr/>
        </p:nvSpPr>
        <p:spPr>
          <a:xfrm>
            <a:off x="822960" y="3474720"/>
            <a:ext cx="1536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2563E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컨테이너 기반 재현 가능한 실행 환경</a:t>
            </a:r>
            <a:endParaRPr lang="en-US" sz="550" dirty="0"/>
          </a:p>
        </p:txBody>
      </p:sp>
      <p:sp>
        <p:nvSpPr>
          <p:cNvPr id="15" name="Shape 13"/>
          <p:cNvSpPr/>
          <p:nvPr/>
        </p:nvSpPr>
        <p:spPr>
          <a:xfrm>
            <a:off x="2926080" y="1847088"/>
            <a:ext cx="1865376" cy="2176272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0160">
            <a:solidFill>
              <a:srgbClr val="D8E2F1"/>
            </a:solidFill>
            <a:prstDash val="solid"/>
          </a:ln>
          <a:effectLst>
            <a:outerShdw sx="100000" sy="100000" kx="0" ky="0" algn="bl" rotWithShape="0" blurRad="15240" dist="50800" dir="2700000">
              <a:srgbClr val="D7DEEC">
                <a:alpha val="2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94176" y="214884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5F7FF"/>
          </a:solidFill>
          <a:ln w="12700">
            <a:solidFill>
              <a:srgbClr val="F5F7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94176" y="2226564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7C3AE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OT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3090672" y="2633472"/>
            <a:ext cx="153619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OpenTelemetry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3090672" y="2971800"/>
            <a:ext cx="1536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57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/chat 요청과 내부 stage 계측</a:t>
            </a:r>
            <a:endParaRPr lang="en-US" sz="570" dirty="0"/>
          </a:p>
        </p:txBody>
      </p:sp>
      <p:sp>
        <p:nvSpPr>
          <p:cNvPr id="20" name="Text 18"/>
          <p:cNvSpPr/>
          <p:nvPr/>
        </p:nvSpPr>
        <p:spPr>
          <a:xfrm>
            <a:off x="3090672" y="3474720"/>
            <a:ext cx="1536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7C3AE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trace_id 기반 요청 흐름 생성</a:t>
            </a:r>
            <a:endParaRPr lang="en-US" sz="550" dirty="0"/>
          </a:p>
        </p:txBody>
      </p:sp>
      <p:sp>
        <p:nvSpPr>
          <p:cNvPr id="21" name="Shape 19"/>
          <p:cNvSpPr/>
          <p:nvPr/>
        </p:nvSpPr>
        <p:spPr>
          <a:xfrm>
            <a:off x="5193792" y="1847088"/>
            <a:ext cx="1865376" cy="2176272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0160">
            <a:solidFill>
              <a:srgbClr val="D8E2F1"/>
            </a:solidFill>
            <a:prstDash val="solid"/>
          </a:ln>
          <a:effectLst>
            <a:outerShdw sx="100000" sy="100000" kx="0" ky="0" algn="bl" rotWithShape="0" blurRad="15240" dist="50800" dir="2700000">
              <a:srgbClr val="D7DEEC">
                <a:alpha val="23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961888" y="214884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5F7FF"/>
          </a:solidFill>
          <a:ln w="12700">
            <a:solidFill>
              <a:srgbClr val="F5F7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61888" y="2226564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59E0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358384" y="2633472"/>
            <a:ext cx="153619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Prometheus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5358384" y="2971800"/>
            <a:ext cx="1536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57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latency · token · cost · error metric 저장</a:t>
            </a:r>
            <a:endParaRPr lang="en-US" sz="570" dirty="0"/>
          </a:p>
        </p:txBody>
      </p:sp>
      <p:sp>
        <p:nvSpPr>
          <p:cNvPr id="26" name="Text 24"/>
          <p:cNvSpPr/>
          <p:nvPr/>
        </p:nvSpPr>
        <p:spPr>
          <a:xfrm>
            <a:off x="5358384" y="3474720"/>
            <a:ext cx="1536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59E0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운영 지표 조회 및 alert rule 근거</a:t>
            </a:r>
            <a:endParaRPr lang="en-US" sz="550" dirty="0"/>
          </a:p>
        </p:txBody>
      </p:sp>
      <p:sp>
        <p:nvSpPr>
          <p:cNvPr id="27" name="Shape 25"/>
          <p:cNvSpPr/>
          <p:nvPr/>
        </p:nvSpPr>
        <p:spPr>
          <a:xfrm>
            <a:off x="7461504" y="1847088"/>
            <a:ext cx="1865376" cy="2176272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0160">
            <a:solidFill>
              <a:srgbClr val="D8E2F1"/>
            </a:solidFill>
            <a:prstDash val="solid"/>
          </a:ln>
          <a:effectLst>
            <a:outerShdw sx="100000" sy="100000" kx="0" ky="0" algn="bl" rotWithShape="0" blurRad="15240" dist="50800" dir="2700000">
              <a:srgbClr val="D7DEEC">
                <a:alpha val="23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229600" y="214884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5F7FF"/>
          </a:solidFill>
          <a:ln w="12700">
            <a:solidFill>
              <a:srgbClr val="F5F7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0" y="2226564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8BDF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J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7626096" y="2633472"/>
            <a:ext cx="153619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Jaeger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7626096" y="2971800"/>
            <a:ext cx="1536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57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요청 단위 trace 시각화</a:t>
            </a:r>
            <a:endParaRPr lang="en-US" sz="570" dirty="0"/>
          </a:p>
        </p:txBody>
      </p:sp>
      <p:sp>
        <p:nvSpPr>
          <p:cNvPr id="32" name="Text 30"/>
          <p:cNvSpPr/>
          <p:nvPr/>
        </p:nvSpPr>
        <p:spPr>
          <a:xfrm>
            <a:off x="7626096" y="3474720"/>
            <a:ext cx="1536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38BDF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retrieve · llm_call · postprocess 병목 확인</a:t>
            </a:r>
            <a:endParaRPr lang="en-US" sz="550" dirty="0"/>
          </a:p>
        </p:txBody>
      </p:sp>
      <p:sp>
        <p:nvSpPr>
          <p:cNvPr id="33" name="Shape 31"/>
          <p:cNvSpPr/>
          <p:nvPr/>
        </p:nvSpPr>
        <p:spPr>
          <a:xfrm>
            <a:off x="9729216" y="1847088"/>
            <a:ext cx="1865376" cy="2176272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0160">
            <a:solidFill>
              <a:srgbClr val="D8E2F1"/>
            </a:solidFill>
            <a:prstDash val="solid"/>
          </a:ln>
          <a:effectLst>
            <a:outerShdw sx="100000" sy="100000" kx="0" ky="0" algn="bl" rotWithShape="0" blurRad="15240" dist="50800" dir="2700000">
              <a:srgbClr val="D7DEEC">
                <a:alpha val="23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10497312" y="214884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5F7FF"/>
          </a:solidFill>
          <a:ln w="12700">
            <a:solidFill>
              <a:srgbClr val="F5F7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497312" y="2226564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43F5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9893808" y="2633472"/>
            <a:ext cx="153619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Grafana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9893808" y="2971800"/>
            <a:ext cx="1536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57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Prometheus metric 시각화</a:t>
            </a:r>
            <a:endParaRPr lang="en-US" sz="570" dirty="0"/>
          </a:p>
        </p:txBody>
      </p:sp>
      <p:sp>
        <p:nvSpPr>
          <p:cNvPr id="38" name="Text 36"/>
          <p:cNvSpPr/>
          <p:nvPr/>
        </p:nvSpPr>
        <p:spPr>
          <a:xfrm>
            <a:off x="9893808" y="3474720"/>
            <a:ext cx="1536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43F5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latency · token · cost 변화 확인용 보조 대시보드</a:t>
            </a:r>
            <a:endParaRPr lang="en-US" sz="550" dirty="0"/>
          </a:p>
        </p:txBody>
      </p:sp>
      <p:sp>
        <p:nvSpPr>
          <p:cNvPr id="39" name="Shape 37"/>
          <p:cNvSpPr/>
          <p:nvPr/>
        </p:nvSpPr>
        <p:spPr>
          <a:xfrm>
            <a:off x="932688" y="4828032"/>
            <a:ext cx="1234440" cy="347472"/>
          </a:xfrm>
          <a:prstGeom prst="roundRect">
            <a:avLst>
              <a:gd name="adj" fmla="val 15789"/>
            </a:avLst>
          </a:prstGeom>
          <a:solidFill>
            <a:srgbClr val="EFF6FF"/>
          </a:solidFill>
          <a:ln w="10160">
            <a:solidFill>
              <a:srgbClr val="D8E2F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05840" y="4946904"/>
            <a:ext cx="108813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2563E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LLM 요청</a:t>
            </a:r>
            <a:endParaRPr lang="en-US" sz="580" dirty="0"/>
          </a:p>
        </p:txBody>
      </p:sp>
      <p:sp>
        <p:nvSpPr>
          <p:cNvPr id="41" name="Shape 39"/>
          <p:cNvSpPr/>
          <p:nvPr/>
        </p:nvSpPr>
        <p:spPr>
          <a:xfrm>
            <a:off x="2212848" y="5001768"/>
            <a:ext cx="530352" cy="0"/>
          </a:xfrm>
          <a:prstGeom prst="line">
            <a:avLst/>
          </a:prstGeom>
          <a:noFill/>
          <a:ln w="1651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2788920" y="4828032"/>
            <a:ext cx="164592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0160">
            <a:solidFill>
              <a:srgbClr val="D8E2F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862072" y="4946904"/>
            <a:ext cx="149961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2563E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OpenTelemetry 계측</a:t>
            </a:r>
            <a:endParaRPr lang="en-US" sz="580" dirty="0"/>
          </a:p>
        </p:txBody>
      </p:sp>
      <p:sp>
        <p:nvSpPr>
          <p:cNvPr id="44" name="Shape 42"/>
          <p:cNvSpPr/>
          <p:nvPr/>
        </p:nvSpPr>
        <p:spPr>
          <a:xfrm>
            <a:off x="4480560" y="5001768"/>
            <a:ext cx="621792" cy="0"/>
          </a:xfrm>
          <a:prstGeom prst="line">
            <a:avLst/>
          </a:prstGeom>
          <a:noFill/>
          <a:ln w="1651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5166360" y="4828032"/>
            <a:ext cx="2487168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0160">
            <a:solidFill>
              <a:srgbClr val="D8E2F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239512" y="4946904"/>
            <a:ext cx="234086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2563E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Prometheus metric · Jaeger trace</a:t>
            </a:r>
            <a:endParaRPr lang="en-US" sz="580" dirty="0"/>
          </a:p>
        </p:txBody>
      </p:sp>
      <p:sp>
        <p:nvSpPr>
          <p:cNvPr id="47" name="Shape 45"/>
          <p:cNvSpPr/>
          <p:nvPr/>
        </p:nvSpPr>
        <p:spPr>
          <a:xfrm>
            <a:off x="7699248" y="5001768"/>
            <a:ext cx="969264" cy="0"/>
          </a:xfrm>
          <a:prstGeom prst="line">
            <a:avLst/>
          </a:prstGeom>
          <a:noFill/>
          <a:ln w="1651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8732520" y="4828032"/>
            <a:ext cx="2331720" cy="347472"/>
          </a:xfrm>
          <a:prstGeom prst="roundRect">
            <a:avLst>
              <a:gd name="adj" fmla="val 15789"/>
            </a:avLst>
          </a:prstGeom>
          <a:solidFill>
            <a:srgbClr val="F5F3FF"/>
          </a:solidFill>
          <a:ln w="10160">
            <a:solidFill>
              <a:srgbClr val="D8E2F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805672" y="4946904"/>
            <a:ext cx="218541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7C3AE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Dashboard · Grafana · Discord alert</a:t>
            </a:r>
            <a:endParaRPr lang="en-US" sz="580" dirty="0"/>
          </a:p>
        </p:txBody>
      </p:sp>
      <p:sp>
        <p:nvSpPr>
          <p:cNvPr id="50" name="Text 48"/>
          <p:cNvSpPr/>
          <p:nvPr/>
        </p:nvSpPr>
        <p:spPr>
          <a:xfrm>
            <a:off x="585216" y="647395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2563E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OLLY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987552" y="647395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A7B2C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·  LLM 운영 관측성 MVP</a:t>
            </a:r>
            <a:endParaRPr lang="en-US" sz="670" dirty="0"/>
          </a:p>
        </p:txBody>
      </p:sp>
      <p:sp>
        <p:nvSpPr>
          <p:cNvPr id="52" name="Text 50"/>
          <p:cNvSpPr/>
          <p:nvPr/>
        </p:nvSpPr>
        <p:spPr>
          <a:xfrm>
            <a:off x="11045952" y="647395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670" dirty="0">
                <a:solidFill>
                  <a:srgbClr val="A7B2C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06 / 14</a:t>
            </a:r>
            <a:endParaRPr lang="en-US" sz="67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F"/>
          </a:solidFill>
          <a:ln w="12700">
            <a:solidFill>
              <a:srgbClr val="F7FA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3977640"/>
            <a:ext cx="4754880" cy="3108960"/>
          </a:xfrm>
          <a:prstGeom prst="ellipse">
            <a:avLst/>
          </a:prstGeom>
          <a:solidFill>
            <a:srgbClr val="DFF8F9">
              <a:alpha val="75000"/>
            </a:srgbClr>
          </a:solidFill>
          <a:ln w="12700">
            <a:solidFill>
              <a:srgbClr val="DFF8F9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78240" y="-1005840"/>
            <a:ext cx="3840480" cy="2011680"/>
          </a:xfrm>
          <a:prstGeom prst="ellipse">
            <a:avLst/>
          </a:prstGeom>
          <a:solidFill>
            <a:srgbClr val="EDEBFF">
              <a:alpha val="82000"/>
            </a:srgbClr>
          </a:solidFill>
          <a:ln w="12700">
            <a:solidFill>
              <a:srgbClr val="EDEB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85216" y="420624"/>
            <a:ext cx="310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2563E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06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932688" y="39319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2563E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핵심 설계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85216" y="694944"/>
            <a:ext cx="7772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요청 하나를 끝까지 잇는 기준: request_id 와 trace_id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85216" y="1124712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이번 MVP에서는 요청 내부 단계를 공통 stage label로 기록해 병목을 구분했다</a:t>
            </a:r>
            <a:endParaRPr lang="en-US" sz="860" dirty="0"/>
          </a:p>
        </p:txBody>
      </p:sp>
      <p:sp>
        <p:nvSpPr>
          <p:cNvPr id="9" name="Text 7"/>
          <p:cNvSpPr/>
          <p:nvPr/>
        </p:nvSpPr>
        <p:spPr>
          <a:xfrm>
            <a:off x="960120" y="1664208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서비스 내부 처리 구간 예시</a:t>
            </a:r>
            <a:endParaRPr lang="en-US" sz="870" dirty="0"/>
          </a:p>
        </p:txBody>
      </p:sp>
      <p:sp>
        <p:nvSpPr>
          <p:cNvPr id="10" name="Text 8"/>
          <p:cNvSpPr/>
          <p:nvPr/>
        </p:nvSpPr>
        <p:spPr>
          <a:xfrm>
            <a:off x="6629400" y="1664208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OLLY에서 사용한 관측 stage</a:t>
            </a:r>
            <a:endParaRPr lang="en-US" sz="870" dirty="0"/>
          </a:p>
        </p:txBody>
      </p:sp>
      <p:sp>
        <p:nvSpPr>
          <p:cNvPr id="11" name="Shape 9"/>
          <p:cNvSpPr/>
          <p:nvPr/>
        </p:nvSpPr>
        <p:spPr>
          <a:xfrm>
            <a:off x="1005840" y="2240280"/>
            <a:ext cx="324612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0160">
            <a:solidFill>
              <a:srgbClr val="D8E2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34440" y="2395728"/>
            <a:ext cx="26517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search_docs / vector_search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4709160" y="2313432"/>
            <a:ext cx="914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57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계측 시</a:t>
            </a:r>
            <a:endParaRPr lang="en-US" sz="570" dirty="0"/>
          </a:p>
          <a:p>
            <a:pPr algn="ctr" indent="0" marL="0">
              <a:buNone/>
            </a:pPr>
            <a:r>
              <a:rPr lang="en-US" sz="57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Stage label로 기록</a:t>
            </a:r>
            <a:endParaRPr lang="en-US" sz="570" dirty="0"/>
          </a:p>
        </p:txBody>
      </p:sp>
      <p:sp>
        <p:nvSpPr>
          <p:cNvPr id="14" name="Shape 12"/>
          <p:cNvSpPr/>
          <p:nvPr/>
        </p:nvSpPr>
        <p:spPr>
          <a:xfrm>
            <a:off x="4251960" y="2459736"/>
            <a:ext cx="1874520" cy="0"/>
          </a:xfrm>
          <a:prstGeom prst="line">
            <a:avLst/>
          </a:prstGeom>
          <a:noFill/>
          <a:ln w="16510">
            <a:solidFill>
              <a:srgbClr val="8B5CF6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492240" y="2240280"/>
            <a:ext cx="2057400" cy="438912"/>
          </a:xfrm>
          <a:prstGeom prst="roundRect">
            <a:avLst>
              <a:gd name="adj" fmla="val 12500"/>
            </a:avLst>
          </a:prstGeom>
          <a:solidFill>
            <a:srgbClr val="201B4C"/>
          </a:solidFill>
          <a:ln w="10160">
            <a:solidFill>
              <a:srgbClr val="D8E2F1"/>
            </a:solidFill>
            <a:prstDash val="solid"/>
          </a:ln>
          <a:effectLst>
            <a:outerShdw sx="100000" sy="100000" kx="0" ky="0" algn="bl" rotWithShape="0" blurRad="15240" dist="50800" dir="2700000">
              <a:srgbClr val="D7DEEC">
                <a:alpha val="23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766560" y="2386584"/>
            <a:ext cx="15087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retrieve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1005840" y="3081528"/>
            <a:ext cx="324612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0160">
            <a:solidFill>
              <a:srgbClr val="D8E2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34440" y="3236976"/>
            <a:ext cx="26517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call_openai / call_gemini / local_model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4709160" y="3154680"/>
            <a:ext cx="914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57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계측 시</a:t>
            </a:r>
            <a:endParaRPr lang="en-US" sz="570" dirty="0"/>
          </a:p>
          <a:p>
            <a:pPr algn="ctr" indent="0" marL="0">
              <a:buNone/>
            </a:pPr>
            <a:r>
              <a:rPr lang="en-US" sz="57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Stage label로 기록</a:t>
            </a:r>
            <a:endParaRPr lang="en-US" sz="570" dirty="0"/>
          </a:p>
        </p:txBody>
      </p:sp>
      <p:sp>
        <p:nvSpPr>
          <p:cNvPr id="20" name="Shape 18"/>
          <p:cNvSpPr/>
          <p:nvPr/>
        </p:nvSpPr>
        <p:spPr>
          <a:xfrm>
            <a:off x="4251960" y="3300984"/>
            <a:ext cx="1874520" cy="0"/>
          </a:xfrm>
          <a:prstGeom prst="line">
            <a:avLst/>
          </a:prstGeom>
          <a:noFill/>
          <a:ln w="16510">
            <a:solidFill>
              <a:srgbClr val="8B5CF6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492240" y="3081528"/>
            <a:ext cx="2057400" cy="438912"/>
          </a:xfrm>
          <a:prstGeom prst="roundRect">
            <a:avLst>
              <a:gd name="adj" fmla="val 12500"/>
            </a:avLst>
          </a:prstGeom>
          <a:solidFill>
            <a:srgbClr val="201B4C"/>
          </a:solidFill>
          <a:ln w="10160">
            <a:solidFill>
              <a:srgbClr val="D8E2F1"/>
            </a:solidFill>
            <a:prstDash val="solid"/>
          </a:ln>
          <a:effectLst>
            <a:outerShdw sx="100000" sy="100000" kx="0" ky="0" algn="bl" rotWithShape="0" blurRad="15240" dist="50800" dir="2700000">
              <a:srgbClr val="D7DEEC">
                <a:alpha val="23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766560" y="3227832"/>
            <a:ext cx="15087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llm_call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1005840" y="3922776"/>
            <a:ext cx="324612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0160">
            <a:solidFill>
              <a:srgbClr val="D8E2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34440" y="4078224"/>
            <a:ext cx="26517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format_answer / validation / safety_filter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4709160" y="3995928"/>
            <a:ext cx="914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57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계측 시</a:t>
            </a:r>
            <a:endParaRPr lang="en-US" sz="570" dirty="0"/>
          </a:p>
          <a:p>
            <a:pPr algn="ctr" indent="0" marL="0">
              <a:buNone/>
            </a:pPr>
            <a:r>
              <a:rPr lang="en-US" sz="57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Stage label로 기록</a:t>
            </a:r>
            <a:endParaRPr lang="en-US" sz="570" dirty="0"/>
          </a:p>
        </p:txBody>
      </p:sp>
      <p:sp>
        <p:nvSpPr>
          <p:cNvPr id="26" name="Shape 24"/>
          <p:cNvSpPr/>
          <p:nvPr/>
        </p:nvSpPr>
        <p:spPr>
          <a:xfrm>
            <a:off x="4251960" y="4142232"/>
            <a:ext cx="1874520" cy="0"/>
          </a:xfrm>
          <a:prstGeom prst="line">
            <a:avLst/>
          </a:prstGeom>
          <a:noFill/>
          <a:ln w="16510">
            <a:solidFill>
              <a:srgbClr val="8B5CF6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6492240" y="3922776"/>
            <a:ext cx="2057400" cy="438912"/>
          </a:xfrm>
          <a:prstGeom prst="roundRect">
            <a:avLst>
              <a:gd name="adj" fmla="val 12500"/>
            </a:avLst>
          </a:prstGeom>
          <a:solidFill>
            <a:srgbClr val="201B4C"/>
          </a:solidFill>
          <a:ln w="10160">
            <a:solidFill>
              <a:srgbClr val="D8E2F1"/>
            </a:solidFill>
            <a:prstDash val="solid"/>
          </a:ln>
          <a:effectLst>
            <a:outerShdw sx="100000" sy="100000" kx="0" ky="0" algn="bl" rotWithShape="0" blurRad="15240" dist="50800" dir="2700000">
              <a:srgbClr val="D7DEEC">
                <a:alpha val="23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766560" y="4069080"/>
            <a:ext cx="15087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postprocess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987552" y="4983480"/>
            <a:ext cx="8778240" cy="365760"/>
          </a:xfrm>
          <a:prstGeom prst="roundRect">
            <a:avLst>
              <a:gd name="adj" fmla="val 10000"/>
            </a:avLst>
          </a:prstGeom>
          <a:solidFill>
            <a:srgbClr val="EEF5FF"/>
          </a:solidFill>
          <a:ln w="12700">
            <a:solidFill>
              <a:srgbClr val="D8E2F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88720" y="5102352"/>
            <a:ext cx="82296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2563E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관측 데이터  request_id · trace_id · latency · input/output tokens · cost · status · stage durations</a:t>
            </a:r>
            <a:endParaRPr lang="en-US" sz="660" dirty="0"/>
          </a:p>
        </p:txBody>
      </p:sp>
      <p:sp>
        <p:nvSpPr>
          <p:cNvPr id="31" name="Text 29"/>
          <p:cNvSpPr/>
          <p:nvPr/>
        </p:nvSpPr>
        <p:spPr>
          <a:xfrm>
            <a:off x="1005840" y="5715000"/>
            <a:ext cx="9418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실제 적용 시 기존 코드에 OpenTelemetry 계측을 추가하고, 해당 구간을 OLLY가 해석할 수 있는 stage label로 기록해야 한다.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585216" y="647395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2563E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OLLY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987552" y="647395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A7B2C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·  LLM 운영 관측성 MVP</a:t>
            </a:r>
            <a:endParaRPr lang="en-US" sz="670" dirty="0"/>
          </a:p>
        </p:txBody>
      </p:sp>
      <p:sp>
        <p:nvSpPr>
          <p:cNvPr id="34" name="Text 32"/>
          <p:cNvSpPr/>
          <p:nvPr/>
        </p:nvSpPr>
        <p:spPr>
          <a:xfrm>
            <a:off x="11045952" y="647395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670" dirty="0">
                <a:solidFill>
                  <a:srgbClr val="A7B2C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07 / 14</a:t>
            </a:r>
            <a:endParaRPr lang="en-US" sz="67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F"/>
          </a:solidFill>
          <a:ln w="12700">
            <a:solidFill>
              <a:srgbClr val="F7FA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3977640"/>
            <a:ext cx="4754880" cy="3108960"/>
          </a:xfrm>
          <a:prstGeom prst="ellipse">
            <a:avLst/>
          </a:prstGeom>
          <a:solidFill>
            <a:srgbClr val="DFF8F9">
              <a:alpha val="75000"/>
            </a:srgbClr>
          </a:solidFill>
          <a:ln w="12700">
            <a:solidFill>
              <a:srgbClr val="DFF8F9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78240" y="-1005840"/>
            <a:ext cx="3840480" cy="2011680"/>
          </a:xfrm>
          <a:prstGeom prst="ellipse">
            <a:avLst/>
          </a:prstGeom>
          <a:solidFill>
            <a:srgbClr val="EDEBFF">
              <a:alpha val="82000"/>
            </a:srgbClr>
          </a:solidFill>
          <a:ln w="12700">
            <a:solidFill>
              <a:srgbClr val="EDEB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85216" y="420624"/>
            <a:ext cx="310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2563E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07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932688" y="39319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2563E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운영 효과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85216" y="694944"/>
            <a:ext cx="7772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OLLY로 얻는 운영 효과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85216" y="1124712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LLM 요청을 운영자가 추적 가능한 데이터로 바꾼다</a:t>
            </a:r>
            <a:endParaRPr lang="en-US" sz="860" dirty="0"/>
          </a:p>
        </p:txBody>
      </p:sp>
      <p:sp>
        <p:nvSpPr>
          <p:cNvPr id="9" name="Shape 7"/>
          <p:cNvSpPr/>
          <p:nvPr/>
        </p:nvSpPr>
        <p:spPr>
          <a:xfrm>
            <a:off x="822960" y="1901952"/>
            <a:ext cx="4572000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0160">
            <a:solidFill>
              <a:srgbClr val="D8E2F1"/>
            </a:solidFill>
            <a:prstDash val="solid"/>
          </a:ln>
          <a:effectLst>
            <a:outerShdw sx="100000" sy="100000" kx="0" ky="0" algn="bl" rotWithShape="0" blurRad="15240" dist="50800" dir="2700000">
              <a:srgbClr val="D7DEEC">
                <a:alpha val="2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115568" y="221284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5F7FF"/>
          </a:solidFill>
          <a:ln w="12700">
            <a:solidFill>
              <a:srgbClr val="F5F7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15568" y="2290572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7C3AE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ID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627632" y="2157984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요청 단위 추적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627632" y="243230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request_id와 trace_id로 하나의 요청을</a:t>
            </a:r>
            <a:endParaRPr lang="en-US" sz="650" dirty="0"/>
          </a:p>
          <a:p>
            <a:pPr algn="l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Dashboard · Jaeger · Prometheus까지 연결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4864608" y="2157984"/>
            <a:ext cx="3200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EE6F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01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943600" y="1901952"/>
            <a:ext cx="4572000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0160">
            <a:solidFill>
              <a:srgbClr val="D8E2F1"/>
            </a:solidFill>
            <a:prstDash val="solid"/>
          </a:ln>
          <a:effectLst>
            <a:outerShdw sx="100000" sy="100000" kx="0" ky="0" algn="bl" rotWithShape="0" blurRad="15240" dist="50800" dir="2700000">
              <a:srgbClr val="D7DEEC">
                <a:alpha val="2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36208" y="221284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5F7FF"/>
          </a:solidFill>
          <a:ln w="12700">
            <a:solidFill>
              <a:srgbClr val="F5F7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36208" y="2290572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563E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6748272" y="2157984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병목 원인 분리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748272" y="243230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전체 latency만 보는 것이 아니라</a:t>
            </a:r>
            <a:endParaRPr lang="en-US" sz="650" dirty="0"/>
          </a:p>
          <a:p>
            <a:pPr algn="l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retrieve · llm_call · postprocess 중 느린 단계를 확인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9985248" y="2157984"/>
            <a:ext cx="3200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EE6F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02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822960" y="3502152"/>
            <a:ext cx="4572000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0160">
            <a:solidFill>
              <a:srgbClr val="D8E2F1"/>
            </a:solidFill>
            <a:prstDash val="solid"/>
          </a:ln>
          <a:effectLst>
            <a:outerShdw sx="100000" sy="100000" kx="0" ky="0" algn="bl" rotWithShape="0" blurRad="15240" dist="50800" dir="2700000">
              <a:srgbClr val="D7DEEC">
                <a:alpha val="23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115568" y="381304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5F7FF"/>
          </a:solidFill>
          <a:ln w="12700">
            <a:solidFill>
              <a:srgbClr val="F5F7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15568" y="3890772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59E0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#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1627632" y="3758184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비용 · 토큰 가시화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627632" y="403250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input/output token과 cost를 기록해</a:t>
            </a:r>
            <a:endParaRPr lang="en-US" sz="650" dirty="0"/>
          </a:p>
          <a:p>
            <a:pPr algn="l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토큰 과다 사용과 비용 증가 원인을 파악</a:t>
            </a:r>
            <a:endParaRPr lang="en-US" sz="650" dirty="0"/>
          </a:p>
        </p:txBody>
      </p:sp>
      <p:sp>
        <p:nvSpPr>
          <p:cNvPr id="26" name="Text 24"/>
          <p:cNvSpPr/>
          <p:nvPr/>
        </p:nvSpPr>
        <p:spPr>
          <a:xfrm>
            <a:off x="4864608" y="3758184"/>
            <a:ext cx="3200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EE6F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03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943600" y="3502152"/>
            <a:ext cx="4572000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0160">
            <a:solidFill>
              <a:srgbClr val="D8E2F1"/>
            </a:solidFill>
            <a:prstDash val="solid"/>
          </a:ln>
          <a:effectLst>
            <a:outerShdw sx="100000" sy="100000" kx="0" ky="0" algn="bl" rotWithShape="0" blurRad="15240" dist="50800" dir="2700000">
              <a:srgbClr val="D7DEEC">
                <a:alpha val="23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236208" y="381304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5F7FF"/>
          </a:solidFill>
          <a:ln w="12700">
            <a:solidFill>
              <a:srgbClr val="F5F7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36208" y="3890772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0B98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6748272" y="3758184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이상 상황 대응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748272" y="403250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error나 threshold 초과 상황을 감지하고</a:t>
            </a:r>
            <a:endParaRPr lang="en-US" sz="650" dirty="0"/>
          </a:p>
          <a:p>
            <a:pPr algn="l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Discord 알림으로 운영자에게 전달</a:t>
            </a:r>
            <a:endParaRPr lang="en-US" sz="650" dirty="0"/>
          </a:p>
        </p:txBody>
      </p:sp>
      <p:sp>
        <p:nvSpPr>
          <p:cNvPr id="32" name="Text 30"/>
          <p:cNvSpPr/>
          <p:nvPr/>
        </p:nvSpPr>
        <p:spPr>
          <a:xfrm>
            <a:off x="9985248" y="3758184"/>
            <a:ext cx="3200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EE6F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04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85216" y="647395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2563E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OLLY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987552" y="647395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A7B2C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·  LLM 운영 관측성 MVP</a:t>
            </a:r>
            <a:endParaRPr lang="en-US" sz="670" dirty="0"/>
          </a:p>
        </p:txBody>
      </p:sp>
      <p:sp>
        <p:nvSpPr>
          <p:cNvPr id="35" name="Text 33"/>
          <p:cNvSpPr/>
          <p:nvPr/>
        </p:nvSpPr>
        <p:spPr>
          <a:xfrm>
            <a:off x="11045952" y="647395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670" dirty="0">
                <a:solidFill>
                  <a:srgbClr val="A7B2C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08 / 14</a:t>
            </a:r>
            <a:endParaRPr lang="en-US" sz="67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F"/>
          </a:solidFill>
          <a:ln w="12700">
            <a:solidFill>
              <a:srgbClr val="F7FA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3977640"/>
            <a:ext cx="4754880" cy="3108960"/>
          </a:xfrm>
          <a:prstGeom prst="ellipse">
            <a:avLst/>
          </a:prstGeom>
          <a:solidFill>
            <a:srgbClr val="DFF8F9">
              <a:alpha val="75000"/>
            </a:srgbClr>
          </a:solidFill>
          <a:ln w="12700">
            <a:solidFill>
              <a:srgbClr val="DFF8F9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78240" y="-1005840"/>
            <a:ext cx="3840480" cy="2011680"/>
          </a:xfrm>
          <a:prstGeom prst="ellipse">
            <a:avLst/>
          </a:prstGeom>
          <a:solidFill>
            <a:srgbClr val="EDEBFF">
              <a:alpha val="82000"/>
            </a:srgbClr>
          </a:solidFill>
          <a:ln w="12700">
            <a:solidFill>
              <a:srgbClr val="EDEB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85216" y="420624"/>
            <a:ext cx="310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2563E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08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932688" y="39319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2563E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데모 시나리오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85216" y="694944"/>
            <a:ext cx="7772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데모를 위해 정의한 4가지 운영 상황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85216" y="1124712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각 시나리오는 답변 내용이 아니라 metadata · trace · metric · alert 연결을 확인하기 위한 것이다</a:t>
            </a:r>
            <a:endParaRPr lang="en-US" sz="860" dirty="0"/>
          </a:p>
        </p:txBody>
      </p:sp>
      <p:sp>
        <p:nvSpPr>
          <p:cNvPr id="9" name="Shape 7"/>
          <p:cNvSpPr/>
          <p:nvPr/>
        </p:nvSpPr>
        <p:spPr>
          <a:xfrm>
            <a:off x="777240" y="1938528"/>
            <a:ext cx="2148840" cy="274320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0160">
            <a:solidFill>
              <a:srgbClr val="D8E2F1"/>
            </a:solidFill>
            <a:prstDash val="solid"/>
          </a:ln>
          <a:effectLst>
            <a:outerShdw sx="100000" sy="100000" kx="0" ky="0" algn="bl" rotWithShape="0" blurRad="15240" dist="50800" dir="2700000">
              <a:srgbClr val="D7DEEC">
                <a:alpha val="2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005840" y="2267712"/>
            <a:ext cx="960120" cy="228600"/>
          </a:xfrm>
          <a:prstGeom prst="roundRect">
            <a:avLst>
              <a:gd name="adj" fmla="val 24000"/>
            </a:avLst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318004"/>
            <a:ext cx="960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normal</a:t>
            </a:r>
            <a:endParaRPr lang="en-US" sz="580" dirty="0"/>
          </a:p>
        </p:txBody>
      </p:sp>
      <p:sp>
        <p:nvSpPr>
          <p:cNvPr id="12" name="Shape 10"/>
          <p:cNvSpPr/>
          <p:nvPr/>
        </p:nvSpPr>
        <p:spPr>
          <a:xfrm>
            <a:off x="1554480" y="277977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7F8FF"/>
          </a:solidFill>
          <a:ln w="12700">
            <a:solidFill>
              <a:srgbClr val="F7F8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554480" y="2857500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0B98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✓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124712" y="3383280"/>
            <a:ext cx="1463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정상 요청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43000" y="3822192"/>
            <a:ext cx="13716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관측 결과</a:t>
            </a:r>
            <a:endParaRPr lang="en-US" sz="630" dirty="0"/>
          </a:p>
        </p:txBody>
      </p:sp>
      <p:sp>
        <p:nvSpPr>
          <p:cNvPr id="16" name="Text 14"/>
          <p:cNvSpPr/>
          <p:nvPr/>
        </p:nvSpPr>
        <p:spPr>
          <a:xfrm>
            <a:off x="1106424" y="4078224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기준 상태 확인</a:t>
            </a:r>
            <a:endParaRPr lang="en-US" sz="620" dirty="0"/>
          </a:p>
          <a:p>
            <a:pPr algn="ctr"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metadata 정상 생성</a:t>
            </a:r>
            <a:endParaRPr lang="en-US" sz="620" dirty="0"/>
          </a:p>
        </p:txBody>
      </p:sp>
      <p:sp>
        <p:nvSpPr>
          <p:cNvPr id="17" name="Shape 15"/>
          <p:cNvSpPr/>
          <p:nvPr/>
        </p:nvSpPr>
        <p:spPr>
          <a:xfrm>
            <a:off x="3520440" y="1938528"/>
            <a:ext cx="2148840" cy="274320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0160">
            <a:solidFill>
              <a:srgbClr val="D8E2F1"/>
            </a:solidFill>
            <a:prstDash val="solid"/>
          </a:ln>
          <a:effectLst>
            <a:outerShdw sx="100000" sy="100000" kx="0" ky="0" algn="bl" rotWithShape="0" blurRad="15240" dist="50800" dir="2700000">
              <a:srgbClr val="D7DEEC">
                <a:alpha val="2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749040" y="2267712"/>
            <a:ext cx="1280160" cy="228600"/>
          </a:xfrm>
          <a:prstGeom prst="roundRect">
            <a:avLst>
              <a:gd name="adj" fmla="val 24000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49040" y="2318004"/>
            <a:ext cx="1280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slow_retrieve</a:t>
            </a:r>
            <a:endParaRPr lang="en-US" sz="580" dirty="0"/>
          </a:p>
        </p:txBody>
      </p:sp>
      <p:sp>
        <p:nvSpPr>
          <p:cNvPr id="20" name="Shape 18"/>
          <p:cNvSpPr/>
          <p:nvPr/>
        </p:nvSpPr>
        <p:spPr>
          <a:xfrm>
            <a:off x="4297680" y="277977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7F8FF"/>
          </a:solidFill>
          <a:ln w="12700">
            <a:solidFill>
              <a:srgbClr val="F7F8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97680" y="2857500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59E0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3867912" y="3383280"/>
            <a:ext cx="1463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검색 단계 병목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886200" y="3822192"/>
            <a:ext cx="13716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관측 결과</a:t>
            </a:r>
            <a:endParaRPr lang="en-US" sz="630" dirty="0"/>
          </a:p>
        </p:txBody>
      </p:sp>
      <p:sp>
        <p:nvSpPr>
          <p:cNvPr id="24" name="Text 22"/>
          <p:cNvSpPr/>
          <p:nvPr/>
        </p:nvSpPr>
        <p:spPr>
          <a:xfrm>
            <a:off x="3849624" y="4078224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retrieve span 증가</a:t>
            </a:r>
            <a:endParaRPr lang="en-US" sz="620" dirty="0"/>
          </a:p>
          <a:p>
            <a:pPr algn="ctr"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Jaeger에서 단계 확인</a:t>
            </a:r>
            <a:endParaRPr lang="en-US" sz="620" dirty="0"/>
          </a:p>
        </p:txBody>
      </p:sp>
      <p:sp>
        <p:nvSpPr>
          <p:cNvPr id="25" name="Shape 23"/>
          <p:cNvSpPr/>
          <p:nvPr/>
        </p:nvSpPr>
        <p:spPr>
          <a:xfrm>
            <a:off x="6263640" y="1938528"/>
            <a:ext cx="2148840" cy="274320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0160">
            <a:solidFill>
              <a:srgbClr val="D8E2F1"/>
            </a:solidFill>
            <a:prstDash val="solid"/>
          </a:ln>
          <a:effectLst>
            <a:outerShdw sx="100000" sy="100000" kx="0" ky="0" algn="bl" rotWithShape="0" blurRad="15240" dist="50800" dir="2700000">
              <a:srgbClr val="D7DEEC">
                <a:alpha val="23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492240" y="2267712"/>
            <a:ext cx="960120" cy="228600"/>
          </a:xfrm>
          <a:prstGeom prst="roundRect">
            <a:avLst>
              <a:gd name="adj" fmla="val 24000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92240" y="2318004"/>
            <a:ext cx="960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high_token</a:t>
            </a:r>
            <a:endParaRPr lang="en-US" sz="580" dirty="0"/>
          </a:p>
        </p:txBody>
      </p:sp>
      <p:sp>
        <p:nvSpPr>
          <p:cNvPr id="28" name="Shape 26"/>
          <p:cNvSpPr/>
          <p:nvPr/>
        </p:nvSpPr>
        <p:spPr>
          <a:xfrm>
            <a:off x="7040880" y="277977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7F8FF"/>
          </a:solidFill>
          <a:ln w="12700">
            <a:solidFill>
              <a:srgbClr val="F7F8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40880" y="2857500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59E0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#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6611112" y="3383280"/>
            <a:ext cx="1463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토큰 과다 사용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629400" y="3822192"/>
            <a:ext cx="13716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관측 결과</a:t>
            </a:r>
            <a:endParaRPr lang="en-US" sz="630" dirty="0"/>
          </a:p>
        </p:txBody>
      </p:sp>
      <p:sp>
        <p:nvSpPr>
          <p:cNvPr id="32" name="Text 30"/>
          <p:cNvSpPr/>
          <p:nvPr/>
        </p:nvSpPr>
        <p:spPr>
          <a:xfrm>
            <a:off x="6592824" y="4078224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token · cost 증가</a:t>
            </a:r>
            <a:endParaRPr lang="en-US" sz="620" dirty="0"/>
          </a:p>
          <a:p>
            <a:pPr algn="ctr"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비용 지표로 확인</a:t>
            </a:r>
            <a:endParaRPr lang="en-US" sz="620" dirty="0"/>
          </a:p>
        </p:txBody>
      </p:sp>
      <p:sp>
        <p:nvSpPr>
          <p:cNvPr id="33" name="Shape 31"/>
          <p:cNvSpPr/>
          <p:nvPr/>
        </p:nvSpPr>
        <p:spPr>
          <a:xfrm>
            <a:off x="9006840" y="1938528"/>
            <a:ext cx="2148840" cy="274320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0160">
            <a:solidFill>
              <a:srgbClr val="D8E2F1"/>
            </a:solidFill>
            <a:prstDash val="solid"/>
          </a:ln>
          <a:effectLst>
            <a:outerShdw sx="100000" sy="100000" kx="0" ky="0" algn="bl" rotWithShape="0" blurRad="15240" dist="50800" dir="2700000">
              <a:srgbClr val="D7DEEC">
                <a:alpha val="23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9235440" y="2267712"/>
            <a:ext cx="960120" cy="228600"/>
          </a:xfrm>
          <a:prstGeom prst="roundRect">
            <a:avLst>
              <a:gd name="adj" fmla="val 24000"/>
            </a:avLst>
          </a:prstGeom>
          <a:solidFill>
            <a:srgbClr val="F43F5E"/>
          </a:solidFill>
          <a:ln w="12700">
            <a:solidFill>
              <a:srgbClr val="F43F5E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235440" y="2318004"/>
            <a:ext cx="960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error</a:t>
            </a:r>
            <a:endParaRPr lang="en-US" sz="580" dirty="0"/>
          </a:p>
        </p:txBody>
      </p:sp>
      <p:sp>
        <p:nvSpPr>
          <p:cNvPr id="36" name="Shape 34"/>
          <p:cNvSpPr/>
          <p:nvPr/>
        </p:nvSpPr>
        <p:spPr>
          <a:xfrm>
            <a:off x="9784080" y="277977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FF1F2"/>
          </a:solidFill>
          <a:ln w="12700">
            <a:solidFill>
              <a:srgbClr val="FFF1F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784080" y="2857500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43F5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!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9354312" y="3383280"/>
            <a:ext cx="1463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실패 요청 추적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9372600" y="3822192"/>
            <a:ext cx="13716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관측 결과</a:t>
            </a:r>
            <a:endParaRPr lang="en-US" sz="630" dirty="0"/>
          </a:p>
        </p:txBody>
      </p:sp>
      <p:sp>
        <p:nvSpPr>
          <p:cNvPr id="40" name="Text 38"/>
          <p:cNvSpPr/>
          <p:nvPr/>
        </p:nvSpPr>
        <p:spPr>
          <a:xfrm>
            <a:off x="9336024" y="4078224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error metric · trace</a:t>
            </a:r>
            <a:endParaRPr lang="en-US" sz="620" dirty="0"/>
          </a:p>
          <a:p>
            <a:pPr algn="ctr"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request_id · alert 연결</a:t>
            </a:r>
            <a:endParaRPr lang="en-US" sz="620" dirty="0"/>
          </a:p>
        </p:txBody>
      </p:sp>
      <p:sp>
        <p:nvSpPr>
          <p:cNvPr id="41" name="Text 39"/>
          <p:cNvSpPr/>
          <p:nvPr/>
        </p:nvSpPr>
        <p:spPr>
          <a:xfrm>
            <a:off x="585216" y="647395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2563E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OLLY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987552" y="647395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A7B2C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·  LLM 운영 관측성 MVP</a:t>
            </a:r>
            <a:endParaRPr lang="en-US" sz="670" dirty="0"/>
          </a:p>
        </p:txBody>
      </p:sp>
      <p:sp>
        <p:nvSpPr>
          <p:cNvPr id="43" name="Text 41"/>
          <p:cNvSpPr/>
          <p:nvPr/>
        </p:nvSpPr>
        <p:spPr>
          <a:xfrm>
            <a:off x="11045952" y="647395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670" dirty="0">
                <a:solidFill>
                  <a:srgbClr val="A7B2C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09 / 14</a:t>
            </a:r>
            <a:endParaRPr lang="en-US" sz="67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F"/>
          </a:solidFill>
          <a:ln w="12700">
            <a:solidFill>
              <a:srgbClr val="F7FA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3977640"/>
            <a:ext cx="4754880" cy="3108960"/>
          </a:xfrm>
          <a:prstGeom prst="ellipse">
            <a:avLst/>
          </a:prstGeom>
          <a:solidFill>
            <a:srgbClr val="DFF8F9">
              <a:alpha val="75000"/>
            </a:srgbClr>
          </a:solidFill>
          <a:ln w="12700">
            <a:solidFill>
              <a:srgbClr val="DFF8F9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78240" y="-1005840"/>
            <a:ext cx="3840480" cy="2011680"/>
          </a:xfrm>
          <a:prstGeom prst="ellipse">
            <a:avLst/>
          </a:prstGeom>
          <a:solidFill>
            <a:srgbClr val="EDEBFF">
              <a:alpha val="82000"/>
            </a:srgbClr>
          </a:solidFill>
          <a:ln w="12700">
            <a:solidFill>
              <a:srgbClr val="EDEB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85216" y="420624"/>
            <a:ext cx="310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2563E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09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932688" y="39319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2563E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데모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85216" y="694944"/>
            <a:ext cx="7772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Demo: 4가지 운영 상황을 관측 흐름으로 연결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85216" y="1124712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요청 생성부터 지표 · trace · 알림까지 하나의 운영 흐름으로 확인</a:t>
            </a:r>
            <a:endParaRPr lang="en-US" sz="860" dirty="0"/>
          </a:p>
        </p:txBody>
      </p:sp>
      <p:sp>
        <p:nvSpPr>
          <p:cNvPr id="9" name="Shape 7"/>
          <p:cNvSpPr/>
          <p:nvPr/>
        </p:nvSpPr>
        <p:spPr>
          <a:xfrm>
            <a:off x="1005840" y="1783080"/>
            <a:ext cx="4663440" cy="2880360"/>
          </a:xfrm>
          <a:prstGeom prst="roundRect">
            <a:avLst>
              <a:gd name="adj" fmla="val 1905"/>
            </a:avLst>
          </a:prstGeom>
          <a:solidFill>
            <a:srgbClr val="201B4C"/>
          </a:solidFill>
          <a:ln w="10160">
            <a:solidFill>
              <a:srgbClr val="D8E2F1"/>
            </a:solidFill>
            <a:prstDash val="solid"/>
          </a:ln>
          <a:effectLst>
            <a:outerShdw sx="100000" sy="100000" kx="0" ky="0" algn="bl" rotWithShape="0" blurRad="15240" dist="50800" dir="2700000">
              <a:srgbClr val="D7DEEC">
                <a:alpha val="2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234440" y="2011680"/>
            <a:ext cx="420624" cy="228600"/>
          </a:xfrm>
          <a:prstGeom prst="roundRect">
            <a:avLst>
              <a:gd name="adj" fmla="val 24000"/>
            </a:avLst>
          </a:prstGeom>
          <a:solidFill>
            <a:srgbClr val="F43F5E"/>
          </a:solidFill>
          <a:ln w="12700">
            <a:solidFill>
              <a:srgbClr val="F43F5E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34440" y="2061972"/>
            <a:ext cx="420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REC</a:t>
            </a:r>
            <a:endParaRPr lang="en-US" sz="580" dirty="0"/>
          </a:p>
        </p:txBody>
      </p:sp>
      <p:sp>
        <p:nvSpPr>
          <p:cNvPr id="12" name="Shape 10"/>
          <p:cNvSpPr/>
          <p:nvPr/>
        </p:nvSpPr>
        <p:spPr>
          <a:xfrm>
            <a:off x="2907792" y="2788920"/>
            <a:ext cx="640080" cy="64008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27248" y="2971800"/>
            <a:ext cx="1463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▶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057400" y="3785616"/>
            <a:ext cx="2468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데모 영상 · 1:30 - 2:00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847088" y="4069080"/>
            <a:ext cx="2926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CBD5E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발표 당일 영상 삽입 · 핵심 화면 캡처로 대체 가능</a:t>
            </a:r>
            <a:endParaRPr lang="en-US" sz="640" dirty="0"/>
          </a:p>
        </p:txBody>
      </p:sp>
      <p:sp>
        <p:nvSpPr>
          <p:cNvPr id="16" name="Shape 14"/>
          <p:cNvSpPr/>
          <p:nvPr/>
        </p:nvSpPr>
        <p:spPr>
          <a:xfrm>
            <a:off x="6400800" y="1691640"/>
            <a:ext cx="365760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0160">
            <a:solidFill>
              <a:srgbClr val="D8E2F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37960" y="1773936"/>
            <a:ext cx="201168" cy="20116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37960" y="1824228"/>
            <a:ext cx="201168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</a:t>
            </a:r>
            <a:endParaRPr lang="en-US" sz="500" dirty="0"/>
          </a:p>
        </p:txBody>
      </p:sp>
      <p:sp>
        <p:nvSpPr>
          <p:cNvPr id="19" name="Text 17"/>
          <p:cNvSpPr/>
          <p:nvPr/>
        </p:nvSpPr>
        <p:spPr>
          <a:xfrm>
            <a:off x="6903720" y="1819656"/>
            <a:ext cx="29260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Chat UI - 4개 시나리오 요청 생성</a:t>
            </a:r>
            <a:endParaRPr lang="en-US" sz="640" dirty="0"/>
          </a:p>
        </p:txBody>
      </p:sp>
      <p:sp>
        <p:nvSpPr>
          <p:cNvPr id="20" name="Shape 18"/>
          <p:cNvSpPr/>
          <p:nvPr/>
        </p:nvSpPr>
        <p:spPr>
          <a:xfrm>
            <a:off x="6400800" y="2258568"/>
            <a:ext cx="365760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0160">
            <a:solidFill>
              <a:srgbClr val="D8E2F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37960" y="2340864"/>
            <a:ext cx="201168" cy="20116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37960" y="2391156"/>
            <a:ext cx="201168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</a:t>
            </a:r>
            <a:endParaRPr lang="en-US" sz="500" dirty="0"/>
          </a:p>
        </p:txBody>
      </p:sp>
      <p:sp>
        <p:nvSpPr>
          <p:cNvPr id="23" name="Text 21"/>
          <p:cNvSpPr/>
          <p:nvPr/>
        </p:nvSpPr>
        <p:spPr>
          <a:xfrm>
            <a:off x="6903720" y="2386584"/>
            <a:ext cx="29260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Dashboard - Recent Request 수집 확인</a:t>
            </a:r>
            <a:endParaRPr lang="en-US" sz="640" dirty="0"/>
          </a:p>
        </p:txBody>
      </p:sp>
      <p:sp>
        <p:nvSpPr>
          <p:cNvPr id="24" name="Shape 22"/>
          <p:cNvSpPr/>
          <p:nvPr/>
        </p:nvSpPr>
        <p:spPr>
          <a:xfrm>
            <a:off x="6400800" y="2825496"/>
            <a:ext cx="365760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0160">
            <a:solidFill>
              <a:srgbClr val="D8E2F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37960" y="2907792"/>
            <a:ext cx="201168" cy="20116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37960" y="2958084"/>
            <a:ext cx="201168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</a:t>
            </a:r>
            <a:endParaRPr lang="en-US" sz="500" dirty="0"/>
          </a:p>
        </p:txBody>
      </p:sp>
      <p:sp>
        <p:nvSpPr>
          <p:cNvPr id="27" name="Text 25"/>
          <p:cNvSpPr/>
          <p:nvPr/>
        </p:nvSpPr>
        <p:spPr>
          <a:xfrm>
            <a:off x="6903720" y="2953512"/>
            <a:ext cx="29260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Trace - slow_retrieve 병목 확인</a:t>
            </a:r>
            <a:endParaRPr lang="en-US" sz="640" dirty="0"/>
          </a:p>
        </p:txBody>
      </p:sp>
      <p:sp>
        <p:nvSpPr>
          <p:cNvPr id="28" name="Shape 26"/>
          <p:cNvSpPr/>
          <p:nvPr/>
        </p:nvSpPr>
        <p:spPr>
          <a:xfrm>
            <a:off x="6400800" y="3392424"/>
            <a:ext cx="365760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0160">
            <a:solidFill>
              <a:srgbClr val="D8E2F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537960" y="3474720"/>
            <a:ext cx="201168" cy="20116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37960" y="3525012"/>
            <a:ext cx="201168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</a:t>
            </a:r>
            <a:endParaRPr lang="en-US" sz="500" dirty="0"/>
          </a:p>
        </p:txBody>
      </p:sp>
      <p:sp>
        <p:nvSpPr>
          <p:cNvPr id="31" name="Text 29"/>
          <p:cNvSpPr/>
          <p:nvPr/>
        </p:nvSpPr>
        <p:spPr>
          <a:xfrm>
            <a:off x="6903720" y="3520440"/>
            <a:ext cx="29260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Grafana - latency · token · cost 확인</a:t>
            </a:r>
            <a:endParaRPr lang="en-US" sz="640" dirty="0"/>
          </a:p>
        </p:txBody>
      </p:sp>
      <p:sp>
        <p:nvSpPr>
          <p:cNvPr id="32" name="Shape 30"/>
          <p:cNvSpPr/>
          <p:nvPr/>
        </p:nvSpPr>
        <p:spPr>
          <a:xfrm>
            <a:off x="6400800" y="3959352"/>
            <a:ext cx="365760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0160">
            <a:solidFill>
              <a:srgbClr val="D8E2F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537960" y="4041648"/>
            <a:ext cx="201168" cy="20116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37960" y="4091940"/>
            <a:ext cx="201168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5</a:t>
            </a:r>
            <a:endParaRPr lang="en-US" sz="500" dirty="0"/>
          </a:p>
        </p:txBody>
      </p:sp>
      <p:sp>
        <p:nvSpPr>
          <p:cNvPr id="35" name="Text 33"/>
          <p:cNvSpPr/>
          <p:nvPr/>
        </p:nvSpPr>
        <p:spPr>
          <a:xfrm>
            <a:off x="6903720" y="4087368"/>
            <a:ext cx="29260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Discord - error 알림 수신</a:t>
            </a:r>
            <a:endParaRPr lang="en-US" sz="640" dirty="0"/>
          </a:p>
        </p:txBody>
      </p:sp>
      <p:sp>
        <p:nvSpPr>
          <p:cNvPr id="36" name="Shape 34"/>
          <p:cNvSpPr/>
          <p:nvPr/>
        </p:nvSpPr>
        <p:spPr>
          <a:xfrm>
            <a:off x="6400800" y="4526280"/>
            <a:ext cx="365760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0160">
            <a:solidFill>
              <a:srgbClr val="D8E2F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537960" y="4608576"/>
            <a:ext cx="201168" cy="20116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37960" y="4658868"/>
            <a:ext cx="201168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6</a:t>
            </a:r>
            <a:endParaRPr lang="en-US" sz="500" dirty="0"/>
          </a:p>
        </p:txBody>
      </p:sp>
      <p:sp>
        <p:nvSpPr>
          <p:cNvPr id="39" name="Text 37"/>
          <p:cNvSpPr/>
          <p:nvPr/>
        </p:nvSpPr>
        <p:spPr>
          <a:xfrm>
            <a:off x="6903720" y="4654296"/>
            <a:ext cx="29260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Dashboard - 운영 요약</a:t>
            </a:r>
            <a:endParaRPr lang="en-US" sz="640" dirty="0"/>
          </a:p>
        </p:txBody>
      </p:sp>
      <p:sp>
        <p:nvSpPr>
          <p:cNvPr id="40" name="Text 38"/>
          <p:cNvSpPr/>
          <p:nvPr/>
        </p:nvSpPr>
        <p:spPr>
          <a:xfrm>
            <a:off x="585216" y="647395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2563E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OLLY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987552" y="647395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A7B2C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·  LLM 운영 관측성 MVP</a:t>
            </a:r>
            <a:endParaRPr lang="en-US" sz="670" dirty="0"/>
          </a:p>
        </p:txBody>
      </p:sp>
      <p:sp>
        <p:nvSpPr>
          <p:cNvPr id="42" name="Text 40"/>
          <p:cNvSpPr/>
          <p:nvPr/>
        </p:nvSpPr>
        <p:spPr>
          <a:xfrm>
            <a:off x="11045952" y="647395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670" dirty="0">
                <a:solidFill>
                  <a:srgbClr val="A7B2C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10 / 14</a:t>
            </a:r>
            <a:endParaRPr lang="en-US" sz="67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F"/>
          </a:solidFill>
          <a:ln w="12700">
            <a:solidFill>
              <a:srgbClr val="F7FA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3977640"/>
            <a:ext cx="4754880" cy="3108960"/>
          </a:xfrm>
          <a:prstGeom prst="ellipse">
            <a:avLst/>
          </a:prstGeom>
          <a:solidFill>
            <a:srgbClr val="DFF8F9">
              <a:alpha val="75000"/>
            </a:srgbClr>
          </a:solidFill>
          <a:ln w="12700">
            <a:solidFill>
              <a:srgbClr val="DFF8F9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78240" y="-1005840"/>
            <a:ext cx="3840480" cy="2011680"/>
          </a:xfrm>
          <a:prstGeom prst="ellipse">
            <a:avLst/>
          </a:prstGeom>
          <a:solidFill>
            <a:srgbClr val="EDEBFF">
              <a:alpha val="82000"/>
            </a:srgbClr>
          </a:solidFill>
          <a:ln w="12700">
            <a:solidFill>
              <a:srgbClr val="EDEB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85216" y="420624"/>
            <a:ext cx="310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2563E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10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932688" y="39319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2563E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측정 결과 및 검증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85216" y="694944"/>
            <a:ext cx="7772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시나리오별 10회 반복으로 관측 신호를 확인했다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85216" y="1124712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총 50회 요청에서 request_id · trace_id · metric · span 연결 여부를 검증</a:t>
            </a:r>
            <a:endParaRPr lang="en-US" sz="860" dirty="0"/>
          </a:p>
        </p:txBody>
      </p:sp>
      <p:sp>
        <p:nvSpPr>
          <p:cNvPr id="9" name="Shape 7"/>
          <p:cNvSpPr/>
          <p:nvPr/>
        </p:nvSpPr>
        <p:spPr>
          <a:xfrm>
            <a:off x="731520" y="1627632"/>
            <a:ext cx="1828800" cy="420624"/>
          </a:xfrm>
          <a:prstGeom prst="rect">
            <a:avLst/>
          </a:prstGeom>
          <a:solidFill>
            <a:srgbClr val="201B4C"/>
          </a:solidFill>
          <a:ln w="12700">
            <a:solidFill>
              <a:srgbClr val="201B4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1773936"/>
            <a:ext cx="168249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검증 시나리오</a:t>
            </a:r>
            <a:endParaRPr lang="en-US" sz="680" dirty="0"/>
          </a:p>
        </p:txBody>
      </p:sp>
      <p:sp>
        <p:nvSpPr>
          <p:cNvPr id="11" name="Shape 9"/>
          <p:cNvSpPr/>
          <p:nvPr/>
        </p:nvSpPr>
        <p:spPr>
          <a:xfrm>
            <a:off x="2560320" y="1627632"/>
            <a:ext cx="960120" cy="420624"/>
          </a:xfrm>
          <a:prstGeom prst="rect">
            <a:avLst/>
          </a:prstGeom>
          <a:solidFill>
            <a:srgbClr val="201B4C"/>
          </a:solidFill>
          <a:ln w="12700">
            <a:solidFill>
              <a:srgbClr val="201B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33472" y="1773936"/>
            <a:ext cx="81381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에러율</a:t>
            </a:r>
            <a:endParaRPr lang="en-US" sz="680" dirty="0"/>
          </a:p>
        </p:txBody>
      </p:sp>
      <p:sp>
        <p:nvSpPr>
          <p:cNvPr id="13" name="Shape 11"/>
          <p:cNvSpPr/>
          <p:nvPr/>
        </p:nvSpPr>
        <p:spPr>
          <a:xfrm>
            <a:off x="3520440" y="1627632"/>
            <a:ext cx="1280160" cy="420624"/>
          </a:xfrm>
          <a:prstGeom prst="rect">
            <a:avLst/>
          </a:prstGeom>
          <a:solidFill>
            <a:srgbClr val="201B4C"/>
          </a:solidFill>
          <a:ln w="12700">
            <a:solidFill>
              <a:srgbClr val="201B4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93592" y="1773936"/>
            <a:ext cx="113385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p50 지연</a:t>
            </a:r>
            <a:endParaRPr lang="en-US" sz="680" dirty="0"/>
          </a:p>
        </p:txBody>
      </p:sp>
      <p:sp>
        <p:nvSpPr>
          <p:cNvPr id="15" name="Shape 13"/>
          <p:cNvSpPr/>
          <p:nvPr/>
        </p:nvSpPr>
        <p:spPr>
          <a:xfrm>
            <a:off x="4800600" y="1627632"/>
            <a:ext cx="1280160" cy="420624"/>
          </a:xfrm>
          <a:prstGeom prst="rect">
            <a:avLst/>
          </a:prstGeom>
          <a:solidFill>
            <a:srgbClr val="201B4C"/>
          </a:solidFill>
          <a:ln w="12700">
            <a:solidFill>
              <a:srgbClr val="201B4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73752" y="1773936"/>
            <a:ext cx="113385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p95 지연</a:t>
            </a:r>
            <a:endParaRPr lang="en-US" sz="680" dirty="0"/>
          </a:p>
        </p:txBody>
      </p:sp>
      <p:sp>
        <p:nvSpPr>
          <p:cNvPr id="17" name="Shape 15"/>
          <p:cNvSpPr/>
          <p:nvPr/>
        </p:nvSpPr>
        <p:spPr>
          <a:xfrm>
            <a:off x="6080760" y="1627632"/>
            <a:ext cx="1234440" cy="420624"/>
          </a:xfrm>
          <a:prstGeom prst="rect">
            <a:avLst/>
          </a:prstGeom>
          <a:solidFill>
            <a:srgbClr val="201B4C"/>
          </a:solidFill>
          <a:ln w="12700">
            <a:solidFill>
              <a:srgbClr val="201B4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53912" y="1773936"/>
            <a:ext cx="108813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총 토큰</a:t>
            </a:r>
            <a:endParaRPr lang="en-US" sz="680" dirty="0"/>
          </a:p>
        </p:txBody>
      </p:sp>
      <p:sp>
        <p:nvSpPr>
          <p:cNvPr id="19" name="Shape 17"/>
          <p:cNvSpPr/>
          <p:nvPr/>
        </p:nvSpPr>
        <p:spPr>
          <a:xfrm>
            <a:off x="7315200" y="1627632"/>
            <a:ext cx="3337560" cy="420624"/>
          </a:xfrm>
          <a:prstGeom prst="rect">
            <a:avLst/>
          </a:prstGeom>
          <a:solidFill>
            <a:srgbClr val="201B4C"/>
          </a:solidFill>
          <a:ln w="12700">
            <a:solidFill>
              <a:srgbClr val="201B4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88352" y="1773936"/>
            <a:ext cx="319125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이상 감지 구간</a:t>
            </a:r>
            <a:endParaRPr lang="en-US" sz="680" dirty="0"/>
          </a:p>
        </p:txBody>
      </p:sp>
      <p:sp>
        <p:nvSpPr>
          <p:cNvPr id="21" name="Shape 19"/>
          <p:cNvSpPr/>
          <p:nvPr/>
        </p:nvSpPr>
        <p:spPr>
          <a:xfrm>
            <a:off x="731520" y="2048256"/>
            <a:ext cx="1828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4672" y="2249424"/>
            <a:ext cx="168249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normal</a:t>
            </a:r>
            <a:endParaRPr lang="en-US" sz="660" dirty="0"/>
          </a:p>
        </p:txBody>
      </p:sp>
      <p:sp>
        <p:nvSpPr>
          <p:cNvPr id="23" name="Shape 21"/>
          <p:cNvSpPr/>
          <p:nvPr/>
        </p:nvSpPr>
        <p:spPr>
          <a:xfrm>
            <a:off x="2560320" y="2048256"/>
            <a:ext cx="9601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633472" y="2249424"/>
            <a:ext cx="81381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0%</a:t>
            </a:r>
            <a:endParaRPr lang="en-US" sz="660" dirty="0"/>
          </a:p>
        </p:txBody>
      </p:sp>
      <p:sp>
        <p:nvSpPr>
          <p:cNvPr id="25" name="Shape 23"/>
          <p:cNvSpPr/>
          <p:nvPr/>
        </p:nvSpPr>
        <p:spPr>
          <a:xfrm>
            <a:off x="3520440" y="2048256"/>
            <a:ext cx="12801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F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93592" y="2249424"/>
            <a:ext cx="113385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1.47초</a:t>
            </a:r>
            <a:endParaRPr lang="en-US" sz="660" dirty="0"/>
          </a:p>
        </p:txBody>
      </p:sp>
      <p:sp>
        <p:nvSpPr>
          <p:cNvPr id="27" name="Shape 25"/>
          <p:cNvSpPr/>
          <p:nvPr/>
        </p:nvSpPr>
        <p:spPr>
          <a:xfrm>
            <a:off x="4800600" y="2048256"/>
            <a:ext cx="12801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F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73752" y="2249424"/>
            <a:ext cx="113385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3.02초</a:t>
            </a:r>
            <a:endParaRPr lang="en-US" sz="660" dirty="0"/>
          </a:p>
        </p:txBody>
      </p:sp>
      <p:sp>
        <p:nvSpPr>
          <p:cNvPr id="29" name="Shape 27"/>
          <p:cNvSpPr/>
          <p:nvPr/>
        </p:nvSpPr>
        <p:spPr>
          <a:xfrm>
            <a:off x="6080760" y="2048256"/>
            <a:ext cx="12344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F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53912" y="2249424"/>
            <a:ext cx="108813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243개</a:t>
            </a:r>
            <a:endParaRPr lang="en-US" sz="660" dirty="0"/>
          </a:p>
        </p:txBody>
      </p:sp>
      <p:sp>
        <p:nvSpPr>
          <p:cNvPr id="31" name="Shape 29"/>
          <p:cNvSpPr/>
          <p:nvPr/>
        </p:nvSpPr>
        <p:spPr>
          <a:xfrm>
            <a:off x="7315200" y="2048256"/>
            <a:ext cx="33375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F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88352" y="2249424"/>
            <a:ext cx="319125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20" b="1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llm_call (1.23초)</a:t>
            </a:r>
            <a:endParaRPr lang="en-US" sz="620" dirty="0"/>
          </a:p>
        </p:txBody>
      </p:sp>
      <p:sp>
        <p:nvSpPr>
          <p:cNvPr id="33" name="Shape 31"/>
          <p:cNvSpPr/>
          <p:nvPr/>
        </p:nvSpPr>
        <p:spPr>
          <a:xfrm>
            <a:off x="731520" y="2615184"/>
            <a:ext cx="1828800" cy="566928"/>
          </a:xfrm>
          <a:prstGeom prst="rect">
            <a:avLst/>
          </a:prstGeom>
          <a:solidFill>
            <a:srgbClr val="F9FBFF"/>
          </a:solidFill>
          <a:ln w="12700">
            <a:solidFill>
              <a:srgbClr val="D8E2F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04672" y="2816352"/>
            <a:ext cx="168249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slow_retrieve</a:t>
            </a:r>
            <a:endParaRPr lang="en-US" sz="660" dirty="0"/>
          </a:p>
        </p:txBody>
      </p:sp>
      <p:sp>
        <p:nvSpPr>
          <p:cNvPr id="35" name="Shape 33"/>
          <p:cNvSpPr/>
          <p:nvPr/>
        </p:nvSpPr>
        <p:spPr>
          <a:xfrm>
            <a:off x="2560320" y="2615184"/>
            <a:ext cx="960120" cy="566928"/>
          </a:xfrm>
          <a:prstGeom prst="rect">
            <a:avLst/>
          </a:prstGeom>
          <a:solidFill>
            <a:srgbClr val="F9FBFF"/>
          </a:solidFill>
          <a:ln w="12700">
            <a:solidFill>
              <a:srgbClr val="D8E2F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633472" y="2816352"/>
            <a:ext cx="81381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0%</a:t>
            </a:r>
            <a:endParaRPr lang="en-US" sz="660" dirty="0"/>
          </a:p>
        </p:txBody>
      </p:sp>
      <p:sp>
        <p:nvSpPr>
          <p:cNvPr id="37" name="Shape 35"/>
          <p:cNvSpPr/>
          <p:nvPr/>
        </p:nvSpPr>
        <p:spPr>
          <a:xfrm>
            <a:off x="3520440" y="2615184"/>
            <a:ext cx="1280160" cy="566928"/>
          </a:xfrm>
          <a:prstGeom prst="rect">
            <a:avLst/>
          </a:prstGeom>
          <a:solidFill>
            <a:srgbClr val="F9FBFF"/>
          </a:solidFill>
          <a:ln w="12700">
            <a:solidFill>
              <a:srgbClr val="D8E2F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93592" y="2816352"/>
            <a:ext cx="113385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3.96초</a:t>
            </a:r>
            <a:endParaRPr lang="en-US" sz="660" dirty="0"/>
          </a:p>
        </p:txBody>
      </p:sp>
      <p:sp>
        <p:nvSpPr>
          <p:cNvPr id="39" name="Shape 37"/>
          <p:cNvSpPr/>
          <p:nvPr/>
        </p:nvSpPr>
        <p:spPr>
          <a:xfrm>
            <a:off x="4800600" y="2615184"/>
            <a:ext cx="1280160" cy="566928"/>
          </a:xfrm>
          <a:prstGeom prst="rect">
            <a:avLst/>
          </a:prstGeom>
          <a:solidFill>
            <a:srgbClr val="F9FBFF"/>
          </a:solidFill>
          <a:ln w="12700">
            <a:solidFill>
              <a:srgbClr val="D8E2F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73752" y="2816352"/>
            <a:ext cx="113385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5.93초</a:t>
            </a:r>
            <a:endParaRPr lang="en-US" sz="660" dirty="0"/>
          </a:p>
        </p:txBody>
      </p:sp>
      <p:sp>
        <p:nvSpPr>
          <p:cNvPr id="41" name="Shape 39"/>
          <p:cNvSpPr/>
          <p:nvPr/>
        </p:nvSpPr>
        <p:spPr>
          <a:xfrm>
            <a:off x="6080760" y="2615184"/>
            <a:ext cx="1234440" cy="566928"/>
          </a:xfrm>
          <a:prstGeom prst="rect">
            <a:avLst/>
          </a:prstGeom>
          <a:solidFill>
            <a:srgbClr val="F9FBFF"/>
          </a:solidFill>
          <a:ln w="12700">
            <a:solidFill>
              <a:srgbClr val="D8E2F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153912" y="2816352"/>
            <a:ext cx="108813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270개</a:t>
            </a:r>
            <a:endParaRPr lang="en-US" sz="660" dirty="0"/>
          </a:p>
        </p:txBody>
      </p:sp>
      <p:sp>
        <p:nvSpPr>
          <p:cNvPr id="43" name="Shape 41"/>
          <p:cNvSpPr/>
          <p:nvPr/>
        </p:nvSpPr>
        <p:spPr>
          <a:xfrm>
            <a:off x="7315200" y="2615184"/>
            <a:ext cx="3337560" cy="566928"/>
          </a:xfrm>
          <a:prstGeom prst="rect">
            <a:avLst/>
          </a:prstGeom>
          <a:solidFill>
            <a:srgbClr val="F9FBFF"/>
          </a:solidFill>
          <a:ln w="12700">
            <a:solidFill>
              <a:srgbClr val="D8E2F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388352" y="2816352"/>
            <a:ext cx="319125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20" b="1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retrieve (1.80초, 정상 대비 약 12배 증가)</a:t>
            </a:r>
            <a:endParaRPr lang="en-US" sz="620" dirty="0"/>
          </a:p>
        </p:txBody>
      </p:sp>
      <p:sp>
        <p:nvSpPr>
          <p:cNvPr id="45" name="Shape 43"/>
          <p:cNvSpPr/>
          <p:nvPr/>
        </p:nvSpPr>
        <p:spPr>
          <a:xfrm>
            <a:off x="731520" y="3182112"/>
            <a:ext cx="1828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F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04672" y="3383280"/>
            <a:ext cx="168249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slow_llm</a:t>
            </a:r>
            <a:endParaRPr lang="en-US" sz="660" dirty="0"/>
          </a:p>
        </p:txBody>
      </p:sp>
      <p:sp>
        <p:nvSpPr>
          <p:cNvPr id="47" name="Shape 45"/>
          <p:cNvSpPr/>
          <p:nvPr/>
        </p:nvSpPr>
        <p:spPr>
          <a:xfrm>
            <a:off x="2560320" y="3182112"/>
            <a:ext cx="9601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F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633472" y="3383280"/>
            <a:ext cx="81381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0%</a:t>
            </a:r>
            <a:endParaRPr lang="en-US" sz="660" dirty="0"/>
          </a:p>
        </p:txBody>
      </p:sp>
      <p:sp>
        <p:nvSpPr>
          <p:cNvPr id="49" name="Shape 47"/>
          <p:cNvSpPr/>
          <p:nvPr/>
        </p:nvSpPr>
        <p:spPr>
          <a:xfrm>
            <a:off x="3520440" y="3182112"/>
            <a:ext cx="12801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F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593592" y="3383280"/>
            <a:ext cx="113385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2.23초</a:t>
            </a:r>
            <a:endParaRPr lang="en-US" sz="660" dirty="0"/>
          </a:p>
        </p:txBody>
      </p:sp>
      <p:sp>
        <p:nvSpPr>
          <p:cNvPr id="51" name="Shape 49"/>
          <p:cNvSpPr/>
          <p:nvPr/>
        </p:nvSpPr>
        <p:spPr>
          <a:xfrm>
            <a:off x="4800600" y="3182112"/>
            <a:ext cx="12801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F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873752" y="3383280"/>
            <a:ext cx="113385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3.11초</a:t>
            </a:r>
            <a:endParaRPr lang="en-US" sz="660" dirty="0"/>
          </a:p>
        </p:txBody>
      </p:sp>
      <p:sp>
        <p:nvSpPr>
          <p:cNvPr id="53" name="Shape 51"/>
          <p:cNvSpPr/>
          <p:nvPr/>
        </p:nvSpPr>
        <p:spPr>
          <a:xfrm>
            <a:off x="6080760" y="3182112"/>
            <a:ext cx="12344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F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153912" y="3383280"/>
            <a:ext cx="108813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271개</a:t>
            </a:r>
            <a:endParaRPr lang="en-US" sz="660" dirty="0"/>
          </a:p>
        </p:txBody>
      </p:sp>
      <p:sp>
        <p:nvSpPr>
          <p:cNvPr id="55" name="Shape 53"/>
          <p:cNvSpPr/>
          <p:nvPr/>
        </p:nvSpPr>
        <p:spPr>
          <a:xfrm>
            <a:off x="7315200" y="3182112"/>
            <a:ext cx="33375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F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388352" y="3383280"/>
            <a:ext cx="319125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20" b="1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llm_call (1.99초)</a:t>
            </a:r>
            <a:endParaRPr lang="en-US" sz="620" dirty="0"/>
          </a:p>
        </p:txBody>
      </p:sp>
      <p:sp>
        <p:nvSpPr>
          <p:cNvPr id="57" name="Shape 55"/>
          <p:cNvSpPr/>
          <p:nvPr/>
        </p:nvSpPr>
        <p:spPr>
          <a:xfrm>
            <a:off x="731520" y="3749040"/>
            <a:ext cx="1828800" cy="566928"/>
          </a:xfrm>
          <a:prstGeom prst="rect">
            <a:avLst/>
          </a:prstGeom>
          <a:solidFill>
            <a:srgbClr val="F9FBFF"/>
          </a:solidFill>
          <a:ln w="12700">
            <a:solidFill>
              <a:srgbClr val="D8E2F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04672" y="3950208"/>
            <a:ext cx="168249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high_token</a:t>
            </a:r>
            <a:endParaRPr lang="en-US" sz="660" dirty="0"/>
          </a:p>
        </p:txBody>
      </p:sp>
      <p:sp>
        <p:nvSpPr>
          <p:cNvPr id="59" name="Shape 57"/>
          <p:cNvSpPr/>
          <p:nvPr/>
        </p:nvSpPr>
        <p:spPr>
          <a:xfrm>
            <a:off x="2560320" y="3749040"/>
            <a:ext cx="960120" cy="566928"/>
          </a:xfrm>
          <a:prstGeom prst="rect">
            <a:avLst/>
          </a:prstGeom>
          <a:solidFill>
            <a:srgbClr val="F9FBFF"/>
          </a:solidFill>
          <a:ln w="12700">
            <a:solidFill>
              <a:srgbClr val="D8E2F1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633472" y="3950208"/>
            <a:ext cx="81381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0%</a:t>
            </a:r>
            <a:endParaRPr lang="en-US" sz="660" dirty="0"/>
          </a:p>
        </p:txBody>
      </p:sp>
      <p:sp>
        <p:nvSpPr>
          <p:cNvPr id="61" name="Shape 59"/>
          <p:cNvSpPr/>
          <p:nvPr/>
        </p:nvSpPr>
        <p:spPr>
          <a:xfrm>
            <a:off x="3520440" y="3749040"/>
            <a:ext cx="1280160" cy="566928"/>
          </a:xfrm>
          <a:prstGeom prst="rect">
            <a:avLst/>
          </a:prstGeom>
          <a:solidFill>
            <a:srgbClr val="F9FBFF"/>
          </a:solidFill>
          <a:ln w="12700">
            <a:solidFill>
              <a:srgbClr val="D8E2F1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593592" y="3950208"/>
            <a:ext cx="113385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34.58초</a:t>
            </a:r>
            <a:endParaRPr lang="en-US" sz="660" dirty="0"/>
          </a:p>
        </p:txBody>
      </p:sp>
      <p:sp>
        <p:nvSpPr>
          <p:cNvPr id="63" name="Shape 61"/>
          <p:cNvSpPr/>
          <p:nvPr/>
        </p:nvSpPr>
        <p:spPr>
          <a:xfrm>
            <a:off x="4800600" y="3749040"/>
            <a:ext cx="1280160" cy="566928"/>
          </a:xfrm>
          <a:prstGeom prst="rect">
            <a:avLst/>
          </a:prstGeom>
          <a:solidFill>
            <a:srgbClr val="F9FBFF"/>
          </a:solidFill>
          <a:ln w="12700">
            <a:solidFill>
              <a:srgbClr val="D8E2F1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873752" y="3950208"/>
            <a:ext cx="113385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36.86초</a:t>
            </a:r>
            <a:endParaRPr lang="en-US" sz="660" dirty="0"/>
          </a:p>
        </p:txBody>
      </p:sp>
      <p:sp>
        <p:nvSpPr>
          <p:cNvPr id="65" name="Shape 63"/>
          <p:cNvSpPr/>
          <p:nvPr/>
        </p:nvSpPr>
        <p:spPr>
          <a:xfrm>
            <a:off x="6080760" y="3749040"/>
            <a:ext cx="1234440" cy="566928"/>
          </a:xfrm>
          <a:prstGeom prst="rect">
            <a:avLst/>
          </a:prstGeom>
          <a:solidFill>
            <a:srgbClr val="F9FBFF"/>
          </a:solidFill>
          <a:ln w="12700">
            <a:solidFill>
              <a:srgbClr val="D8E2F1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153912" y="3950208"/>
            <a:ext cx="108813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457개</a:t>
            </a:r>
            <a:endParaRPr lang="en-US" sz="660" dirty="0"/>
          </a:p>
        </p:txBody>
      </p:sp>
      <p:sp>
        <p:nvSpPr>
          <p:cNvPr id="67" name="Shape 65"/>
          <p:cNvSpPr/>
          <p:nvPr/>
        </p:nvSpPr>
        <p:spPr>
          <a:xfrm>
            <a:off x="7315200" y="3749040"/>
            <a:ext cx="3337560" cy="566928"/>
          </a:xfrm>
          <a:prstGeom prst="rect">
            <a:avLst/>
          </a:prstGeom>
          <a:solidFill>
            <a:srgbClr val="F9FBFF"/>
          </a:solidFill>
          <a:ln w="12700">
            <a:solidFill>
              <a:srgbClr val="D8E2F1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388352" y="3950208"/>
            <a:ext cx="319125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20" b="1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llm_call (34.35초, 리소스 한계 도달)</a:t>
            </a:r>
            <a:endParaRPr lang="en-US" sz="620" dirty="0"/>
          </a:p>
        </p:txBody>
      </p:sp>
      <p:sp>
        <p:nvSpPr>
          <p:cNvPr id="69" name="Shape 67"/>
          <p:cNvSpPr/>
          <p:nvPr/>
        </p:nvSpPr>
        <p:spPr>
          <a:xfrm>
            <a:off x="731520" y="4315968"/>
            <a:ext cx="1828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F1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804672" y="4517136"/>
            <a:ext cx="168249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error</a:t>
            </a:r>
            <a:endParaRPr lang="en-US" sz="660" dirty="0"/>
          </a:p>
        </p:txBody>
      </p:sp>
      <p:sp>
        <p:nvSpPr>
          <p:cNvPr id="71" name="Shape 69"/>
          <p:cNvSpPr/>
          <p:nvPr/>
        </p:nvSpPr>
        <p:spPr>
          <a:xfrm>
            <a:off x="2560320" y="4315968"/>
            <a:ext cx="9601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F1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2633472" y="4517136"/>
            <a:ext cx="81381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100%</a:t>
            </a:r>
            <a:endParaRPr lang="en-US" sz="660" dirty="0"/>
          </a:p>
        </p:txBody>
      </p:sp>
      <p:sp>
        <p:nvSpPr>
          <p:cNvPr id="73" name="Shape 71"/>
          <p:cNvSpPr/>
          <p:nvPr/>
        </p:nvSpPr>
        <p:spPr>
          <a:xfrm>
            <a:off x="3520440" y="4315968"/>
            <a:ext cx="12801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F1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3593592" y="4517136"/>
            <a:ext cx="113385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0.15초</a:t>
            </a:r>
            <a:endParaRPr lang="en-US" sz="660" dirty="0"/>
          </a:p>
        </p:txBody>
      </p:sp>
      <p:sp>
        <p:nvSpPr>
          <p:cNvPr id="75" name="Shape 73"/>
          <p:cNvSpPr/>
          <p:nvPr/>
        </p:nvSpPr>
        <p:spPr>
          <a:xfrm>
            <a:off x="4800600" y="4315968"/>
            <a:ext cx="12801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F1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873752" y="4517136"/>
            <a:ext cx="113385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0.15초</a:t>
            </a:r>
            <a:endParaRPr lang="en-US" sz="660" dirty="0"/>
          </a:p>
        </p:txBody>
      </p:sp>
      <p:sp>
        <p:nvSpPr>
          <p:cNvPr id="77" name="Shape 75"/>
          <p:cNvSpPr/>
          <p:nvPr/>
        </p:nvSpPr>
        <p:spPr>
          <a:xfrm>
            <a:off x="6080760" y="4315968"/>
            <a:ext cx="12344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F1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153912" y="4517136"/>
            <a:ext cx="108813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0개</a:t>
            </a:r>
            <a:endParaRPr lang="en-US" sz="660" dirty="0"/>
          </a:p>
        </p:txBody>
      </p:sp>
      <p:sp>
        <p:nvSpPr>
          <p:cNvPr id="79" name="Shape 77"/>
          <p:cNvSpPr/>
          <p:nvPr/>
        </p:nvSpPr>
        <p:spPr>
          <a:xfrm>
            <a:off x="7315200" y="4315968"/>
            <a:ext cx="33375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F1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7388352" y="4517136"/>
            <a:ext cx="319125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20" b="1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retrieve (HTTP Error 조기 실패)</a:t>
            </a:r>
            <a:endParaRPr lang="en-US" sz="620" dirty="0"/>
          </a:p>
        </p:txBody>
      </p:sp>
      <p:sp>
        <p:nvSpPr>
          <p:cNvPr id="81" name="Shape 79"/>
          <p:cNvSpPr/>
          <p:nvPr/>
        </p:nvSpPr>
        <p:spPr>
          <a:xfrm>
            <a:off x="914400" y="5230368"/>
            <a:ext cx="9921240" cy="438912"/>
          </a:xfrm>
          <a:prstGeom prst="roundRect">
            <a:avLst>
              <a:gd name="adj" fmla="val 8333"/>
            </a:avLst>
          </a:prstGeom>
          <a:solidFill>
            <a:srgbClr val="EEF5FF"/>
          </a:solidFill>
          <a:ln w="12700">
            <a:solidFill>
              <a:srgbClr val="D8E2F1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1097280" y="5385816"/>
            <a:ext cx="950976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2563E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검증 기준: 같은 request_id와 trace_id가 Chat UI · Dashboard · Jaeger · Prometheus/Grafana에서 같은 요청을 설명하는가</a:t>
            </a:r>
            <a:endParaRPr lang="en-US" sz="650" dirty="0"/>
          </a:p>
        </p:txBody>
      </p:sp>
      <p:sp>
        <p:nvSpPr>
          <p:cNvPr id="83" name="Text 81"/>
          <p:cNvSpPr/>
          <p:nvPr/>
        </p:nvSpPr>
        <p:spPr>
          <a:xfrm>
            <a:off x="585216" y="647395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2563E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OLLY</a:t>
            </a:r>
            <a:endParaRPr lang="en-US" sz="700" dirty="0"/>
          </a:p>
        </p:txBody>
      </p:sp>
      <p:sp>
        <p:nvSpPr>
          <p:cNvPr id="84" name="Text 82"/>
          <p:cNvSpPr/>
          <p:nvPr/>
        </p:nvSpPr>
        <p:spPr>
          <a:xfrm>
            <a:off x="987552" y="647395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A7B2C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·  LLM 운영 관측성 MVP</a:t>
            </a:r>
            <a:endParaRPr lang="en-US" sz="670" dirty="0"/>
          </a:p>
        </p:txBody>
      </p:sp>
      <p:sp>
        <p:nvSpPr>
          <p:cNvPr id="85" name="Text 83"/>
          <p:cNvSpPr/>
          <p:nvPr/>
        </p:nvSpPr>
        <p:spPr>
          <a:xfrm>
            <a:off x="11045952" y="647395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670" dirty="0">
                <a:solidFill>
                  <a:srgbClr val="A7B2C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11 / 14</a:t>
            </a:r>
            <a:endParaRPr lang="en-US" sz="67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F"/>
          </a:solidFill>
          <a:ln w="12700">
            <a:solidFill>
              <a:srgbClr val="F7FA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3977640"/>
            <a:ext cx="4754880" cy="3108960"/>
          </a:xfrm>
          <a:prstGeom prst="ellipse">
            <a:avLst/>
          </a:prstGeom>
          <a:solidFill>
            <a:srgbClr val="DFF8F9">
              <a:alpha val="75000"/>
            </a:srgbClr>
          </a:solidFill>
          <a:ln w="12700">
            <a:solidFill>
              <a:srgbClr val="DFF8F9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78240" y="-1005840"/>
            <a:ext cx="3840480" cy="2011680"/>
          </a:xfrm>
          <a:prstGeom prst="ellipse">
            <a:avLst/>
          </a:prstGeom>
          <a:solidFill>
            <a:srgbClr val="EDEBFF">
              <a:alpha val="82000"/>
            </a:srgbClr>
          </a:solidFill>
          <a:ln w="12700">
            <a:solidFill>
              <a:srgbClr val="EDEB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85216" y="420624"/>
            <a:ext cx="310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2563E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11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932688" y="39319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2563E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결과 해석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85216" y="694944"/>
            <a:ext cx="7772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데모에서 운영자가 얻는 판단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85216" y="1124712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화면이 많다는 것이 아니라, 원인을 단계로 좁힐 수 있다는 점이 핵심</a:t>
            </a:r>
            <a:endParaRPr lang="en-US" sz="860" dirty="0"/>
          </a:p>
        </p:txBody>
      </p:sp>
      <p:sp>
        <p:nvSpPr>
          <p:cNvPr id="9" name="Shape 7"/>
          <p:cNvSpPr/>
          <p:nvPr/>
        </p:nvSpPr>
        <p:spPr>
          <a:xfrm>
            <a:off x="914400" y="1673352"/>
            <a:ext cx="1828800" cy="384048"/>
          </a:xfrm>
          <a:prstGeom prst="rect">
            <a:avLst/>
          </a:prstGeom>
          <a:solidFill>
            <a:srgbClr val="201B4C"/>
          </a:solidFill>
          <a:ln w="12700">
            <a:solidFill>
              <a:srgbClr val="201B4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810512"/>
            <a:ext cx="164592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시나리오</a:t>
            </a:r>
            <a:endParaRPr lang="en-US" sz="620" dirty="0"/>
          </a:p>
        </p:txBody>
      </p:sp>
      <p:sp>
        <p:nvSpPr>
          <p:cNvPr id="11" name="Shape 9"/>
          <p:cNvSpPr/>
          <p:nvPr/>
        </p:nvSpPr>
        <p:spPr>
          <a:xfrm>
            <a:off x="2743200" y="1673352"/>
            <a:ext cx="3337560" cy="384048"/>
          </a:xfrm>
          <a:prstGeom prst="rect">
            <a:avLst/>
          </a:prstGeom>
          <a:solidFill>
            <a:srgbClr val="201B4C"/>
          </a:solidFill>
          <a:ln w="12700">
            <a:solidFill>
              <a:srgbClr val="201B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34640" y="1810512"/>
            <a:ext cx="31546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관측 결과</a:t>
            </a:r>
            <a:endParaRPr lang="en-US" sz="620" dirty="0"/>
          </a:p>
        </p:txBody>
      </p:sp>
      <p:sp>
        <p:nvSpPr>
          <p:cNvPr id="13" name="Shape 11"/>
          <p:cNvSpPr/>
          <p:nvPr/>
        </p:nvSpPr>
        <p:spPr>
          <a:xfrm>
            <a:off x="6080760" y="1673352"/>
            <a:ext cx="4617720" cy="384048"/>
          </a:xfrm>
          <a:prstGeom prst="rect">
            <a:avLst/>
          </a:prstGeom>
          <a:solidFill>
            <a:srgbClr val="201B4C"/>
          </a:solidFill>
          <a:ln w="12700">
            <a:solidFill>
              <a:srgbClr val="201B4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72200" y="1810512"/>
            <a:ext cx="443484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운영자가 할 수 있는 판단</a:t>
            </a:r>
            <a:endParaRPr lang="en-US" sz="620" dirty="0"/>
          </a:p>
        </p:txBody>
      </p:sp>
      <p:sp>
        <p:nvSpPr>
          <p:cNvPr id="15" name="Shape 13"/>
          <p:cNvSpPr/>
          <p:nvPr/>
        </p:nvSpPr>
        <p:spPr>
          <a:xfrm>
            <a:off x="914400" y="2057400"/>
            <a:ext cx="1828800" cy="402336"/>
          </a:xfrm>
          <a:prstGeom prst="roundRect">
            <a:avLst>
              <a:gd name="adj" fmla="val 6818"/>
            </a:avLst>
          </a:prstGeom>
          <a:solidFill>
            <a:srgbClr val="ECFDF5"/>
          </a:solidFill>
          <a:ln w="12700">
            <a:solidFill>
              <a:srgbClr val="D8E2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2194560"/>
            <a:ext cx="164592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10B98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normal</a:t>
            </a:r>
            <a:endParaRPr lang="en-US" sz="670" dirty="0"/>
          </a:p>
        </p:txBody>
      </p:sp>
      <p:sp>
        <p:nvSpPr>
          <p:cNvPr id="17" name="Shape 15"/>
          <p:cNvSpPr/>
          <p:nvPr/>
        </p:nvSpPr>
        <p:spPr>
          <a:xfrm>
            <a:off x="2743200" y="2057400"/>
            <a:ext cx="3337560" cy="402336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8E2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834640" y="2194560"/>
            <a:ext cx="31546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7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latency · token · cost 정상</a:t>
            </a:r>
            <a:endParaRPr lang="en-US" sz="670" dirty="0"/>
          </a:p>
        </p:txBody>
      </p:sp>
      <p:sp>
        <p:nvSpPr>
          <p:cNvPr id="19" name="Shape 17"/>
          <p:cNvSpPr/>
          <p:nvPr/>
        </p:nvSpPr>
        <p:spPr>
          <a:xfrm>
            <a:off x="6080760" y="2057400"/>
            <a:ext cx="4617720" cy="402336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8E2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72200" y="2194560"/>
            <a:ext cx="443484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7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기준 상태 확인</a:t>
            </a:r>
            <a:endParaRPr lang="en-US" sz="670" dirty="0"/>
          </a:p>
        </p:txBody>
      </p:sp>
      <p:sp>
        <p:nvSpPr>
          <p:cNvPr id="21" name="Shape 19"/>
          <p:cNvSpPr/>
          <p:nvPr/>
        </p:nvSpPr>
        <p:spPr>
          <a:xfrm>
            <a:off x="10259568" y="215798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259568" y="2235708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0B98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✓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914400" y="2660904"/>
            <a:ext cx="1828800" cy="402336"/>
          </a:xfrm>
          <a:prstGeom prst="roundRect">
            <a:avLst>
              <a:gd name="adj" fmla="val 6818"/>
            </a:avLst>
          </a:prstGeom>
          <a:solidFill>
            <a:srgbClr val="FFFBEB"/>
          </a:solidFill>
          <a:ln w="12700">
            <a:solidFill>
              <a:srgbClr val="D8E2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05840" y="2798064"/>
            <a:ext cx="164592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F59E0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slow_retrieve</a:t>
            </a:r>
            <a:endParaRPr lang="en-US" sz="670" dirty="0"/>
          </a:p>
        </p:txBody>
      </p:sp>
      <p:sp>
        <p:nvSpPr>
          <p:cNvPr id="25" name="Shape 23"/>
          <p:cNvSpPr/>
          <p:nvPr/>
        </p:nvSpPr>
        <p:spPr>
          <a:xfrm>
            <a:off x="2743200" y="2660904"/>
            <a:ext cx="3337560" cy="402336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8E2F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834640" y="2798064"/>
            <a:ext cx="31546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7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retrieve span 증가</a:t>
            </a:r>
            <a:endParaRPr lang="en-US" sz="670" dirty="0"/>
          </a:p>
        </p:txBody>
      </p:sp>
      <p:sp>
        <p:nvSpPr>
          <p:cNvPr id="27" name="Shape 25"/>
          <p:cNvSpPr/>
          <p:nvPr/>
        </p:nvSpPr>
        <p:spPr>
          <a:xfrm>
            <a:off x="6080760" y="2660904"/>
            <a:ext cx="4617720" cy="402336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8E2F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72200" y="2798064"/>
            <a:ext cx="443484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7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RAG · 문서 검색 계층 점검</a:t>
            </a:r>
            <a:endParaRPr lang="en-US" sz="670" dirty="0"/>
          </a:p>
        </p:txBody>
      </p:sp>
      <p:sp>
        <p:nvSpPr>
          <p:cNvPr id="29" name="Shape 27"/>
          <p:cNvSpPr/>
          <p:nvPr/>
        </p:nvSpPr>
        <p:spPr>
          <a:xfrm>
            <a:off x="10259568" y="276148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259568" y="2839212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0B98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✓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914400" y="3264408"/>
            <a:ext cx="1828800" cy="402336"/>
          </a:xfrm>
          <a:prstGeom prst="roundRect">
            <a:avLst>
              <a:gd name="adj" fmla="val 6818"/>
            </a:avLst>
          </a:prstGeom>
          <a:solidFill>
            <a:srgbClr val="EFF6FF"/>
          </a:solidFill>
          <a:ln w="12700">
            <a:solidFill>
              <a:srgbClr val="D8E2F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05840" y="3401568"/>
            <a:ext cx="164592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2563E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slow_llm</a:t>
            </a:r>
            <a:endParaRPr lang="en-US" sz="670" dirty="0"/>
          </a:p>
        </p:txBody>
      </p:sp>
      <p:sp>
        <p:nvSpPr>
          <p:cNvPr id="33" name="Shape 31"/>
          <p:cNvSpPr/>
          <p:nvPr/>
        </p:nvSpPr>
        <p:spPr>
          <a:xfrm>
            <a:off x="2743200" y="3264408"/>
            <a:ext cx="3337560" cy="402336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8E2F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834640" y="3401568"/>
            <a:ext cx="31546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7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llm_call span 증가</a:t>
            </a:r>
            <a:endParaRPr lang="en-US" sz="670" dirty="0"/>
          </a:p>
        </p:txBody>
      </p:sp>
      <p:sp>
        <p:nvSpPr>
          <p:cNvPr id="35" name="Shape 33"/>
          <p:cNvSpPr/>
          <p:nvPr/>
        </p:nvSpPr>
        <p:spPr>
          <a:xfrm>
            <a:off x="6080760" y="3264408"/>
            <a:ext cx="4617720" cy="402336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8E2F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72200" y="3401568"/>
            <a:ext cx="443484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7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모델 리소스 · 외부 LLM API 지연 점검</a:t>
            </a:r>
            <a:endParaRPr lang="en-US" sz="670" dirty="0"/>
          </a:p>
        </p:txBody>
      </p:sp>
      <p:sp>
        <p:nvSpPr>
          <p:cNvPr id="37" name="Shape 35"/>
          <p:cNvSpPr/>
          <p:nvPr/>
        </p:nvSpPr>
        <p:spPr>
          <a:xfrm>
            <a:off x="10259568" y="336499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259568" y="3442716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0B98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✓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914400" y="3867912"/>
            <a:ext cx="1828800" cy="402336"/>
          </a:xfrm>
          <a:prstGeom prst="roundRect">
            <a:avLst>
              <a:gd name="adj" fmla="val 6818"/>
            </a:avLst>
          </a:prstGeom>
          <a:solidFill>
            <a:srgbClr val="FFFBEB"/>
          </a:solidFill>
          <a:ln w="12700">
            <a:solidFill>
              <a:srgbClr val="D8E2F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05840" y="4005072"/>
            <a:ext cx="164592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F59E0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high_token</a:t>
            </a:r>
            <a:endParaRPr lang="en-US" sz="670" dirty="0"/>
          </a:p>
        </p:txBody>
      </p:sp>
      <p:sp>
        <p:nvSpPr>
          <p:cNvPr id="41" name="Shape 39"/>
          <p:cNvSpPr/>
          <p:nvPr/>
        </p:nvSpPr>
        <p:spPr>
          <a:xfrm>
            <a:off x="2743200" y="3867912"/>
            <a:ext cx="3337560" cy="402336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8E2F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834640" y="4005072"/>
            <a:ext cx="31546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7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token · cost 증가</a:t>
            </a:r>
            <a:endParaRPr lang="en-US" sz="670" dirty="0"/>
          </a:p>
        </p:txBody>
      </p:sp>
      <p:sp>
        <p:nvSpPr>
          <p:cNvPr id="43" name="Shape 41"/>
          <p:cNvSpPr/>
          <p:nvPr/>
        </p:nvSpPr>
        <p:spPr>
          <a:xfrm>
            <a:off x="6080760" y="3867912"/>
            <a:ext cx="4617720" cy="402336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8E2F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172200" y="4005072"/>
            <a:ext cx="443484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7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프롬프트 템플릿 · 검색 문맥 과다 주입 점검</a:t>
            </a:r>
            <a:endParaRPr lang="en-US" sz="670" dirty="0"/>
          </a:p>
        </p:txBody>
      </p:sp>
      <p:sp>
        <p:nvSpPr>
          <p:cNvPr id="45" name="Shape 43"/>
          <p:cNvSpPr/>
          <p:nvPr/>
        </p:nvSpPr>
        <p:spPr>
          <a:xfrm>
            <a:off x="10259568" y="396849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259568" y="4046220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0B98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✓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914400" y="4471416"/>
            <a:ext cx="1828800" cy="402336"/>
          </a:xfrm>
          <a:prstGeom prst="roundRect">
            <a:avLst>
              <a:gd name="adj" fmla="val 6818"/>
            </a:avLst>
          </a:prstGeom>
          <a:solidFill>
            <a:srgbClr val="FFF1F2"/>
          </a:solidFill>
          <a:ln w="12700">
            <a:solidFill>
              <a:srgbClr val="D8E2F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005840" y="4608576"/>
            <a:ext cx="164592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F43F5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error</a:t>
            </a:r>
            <a:endParaRPr lang="en-US" sz="670" dirty="0"/>
          </a:p>
        </p:txBody>
      </p:sp>
      <p:sp>
        <p:nvSpPr>
          <p:cNvPr id="49" name="Shape 47"/>
          <p:cNvSpPr/>
          <p:nvPr/>
        </p:nvSpPr>
        <p:spPr>
          <a:xfrm>
            <a:off x="2743200" y="4471416"/>
            <a:ext cx="3337560" cy="402336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8E2F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834640" y="4608576"/>
            <a:ext cx="31546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7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error metric · trace 생성</a:t>
            </a:r>
            <a:endParaRPr lang="en-US" sz="670" dirty="0"/>
          </a:p>
        </p:txBody>
      </p:sp>
      <p:sp>
        <p:nvSpPr>
          <p:cNvPr id="51" name="Shape 49"/>
          <p:cNvSpPr/>
          <p:nvPr/>
        </p:nvSpPr>
        <p:spPr>
          <a:xfrm>
            <a:off x="6080760" y="4471416"/>
            <a:ext cx="4617720" cy="402336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8E2F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172200" y="4608576"/>
            <a:ext cx="443484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7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실패 요청의 원인 trace 추적</a:t>
            </a:r>
            <a:endParaRPr lang="en-US" sz="670" dirty="0"/>
          </a:p>
        </p:txBody>
      </p:sp>
      <p:sp>
        <p:nvSpPr>
          <p:cNvPr id="53" name="Shape 51"/>
          <p:cNvSpPr/>
          <p:nvPr/>
        </p:nvSpPr>
        <p:spPr>
          <a:xfrm>
            <a:off x="10259568" y="457200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259568" y="4649724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0B98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✓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585216" y="647395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2563E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OLLY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987552" y="647395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A7B2C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·  LLM 운영 관측성 MVP</a:t>
            </a:r>
            <a:endParaRPr lang="en-US" sz="670" dirty="0"/>
          </a:p>
        </p:txBody>
      </p:sp>
      <p:sp>
        <p:nvSpPr>
          <p:cNvPr id="57" name="Text 55"/>
          <p:cNvSpPr/>
          <p:nvPr/>
        </p:nvSpPr>
        <p:spPr>
          <a:xfrm>
            <a:off x="11045952" y="647395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670" dirty="0">
                <a:solidFill>
                  <a:srgbClr val="A7B2C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12 / 14</a:t>
            </a:r>
            <a:endParaRPr lang="en-US" sz="67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F"/>
          </a:solidFill>
          <a:ln w="12700">
            <a:solidFill>
              <a:srgbClr val="F7FA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3977640"/>
            <a:ext cx="4754880" cy="3108960"/>
          </a:xfrm>
          <a:prstGeom prst="ellipse">
            <a:avLst/>
          </a:prstGeom>
          <a:solidFill>
            <a:srgbClr val="DFF8F9">
              <a:alpha val="75000"/>
            </a:srgbClr>
          </a:solidFill>
          <a:ln w="12700">
            <a:solidFill>
              <a:srgbClr val="DFF8F9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78240" y="-1005840"/>
            <a:ext cx="3840480" cy="2011680"/>
          </a:xfrm>
          <a:prstGeom prst="ellipse">
            <a:avLst/>
          </a:prstGeom>
          <a:solidFill>
            <a:srgbClr val="EDEBFF">
              <a:alpha val="82000"/>
            </a:srgbClr>
          </a:solidFill>
          <a:ln w="12700">
            <a:solidFill>
              <a:srgbClr val="EDEB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85216" y="420624"/>
            <a:ext cx="310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2563E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12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932688" y="39319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2563E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한계 및 향후 과제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85216" y="694944"/>
            <a:ext cx="7772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현재 MVP의 한계를 명확히 두고, 실무 적용 조건을 정리했다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85216" y="1124712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검증 범위와 프로덕션 적용 조건을 구분한다</a:t>
            </a:r>
            <a:endParaRPr lang="en-US" sz="860" dirty="0"/>
          </a:p>
        </p:txBody>
      </p:sp>
      <p:sp>
        <p:nvSpPr>
          <p:cNvPr id="9" name="Shape 7"/>
          <p:cNvSpPr/>
          <p:nvPr/>
        </p:nvSpPr>
        <p:spPr>
          <a:xfrm>
            <a:off x="822960" y="1645920"/>
            <a:ext cx="4709160" cy="4160520"/>
          </a:xfrm>
          <a:prstGeom prst="roundRect">
            <a:avLst>
              <a:gd name="adj" fmla="val 1319"/>
            </a:avLst>
          </a:prstGeom>
          <a:solidFill>
            <a:srgbClr val="FFFFFF"/>
          </a:solidFill>
          <a:ln w="10160">
            <a:solidFill>
              <a:srgbClr val="D8E2F1"/>
            </a:solidFill>
            <a:prstDash val="solid"/>
          </a:ln>
          <a:effectLst>
            <a:outerShdw sx="100000" sy="100000" kx="0" ky="0" algn="bl" rotWithShape="0" blurRad="15240" dist="50800" dir="2700000">
              <a:srgbClr val="D7DEEC">
                <a:alpha val="2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115568" y="1901952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43F5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현재 한계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115568" y="235915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FF1F2"/>
          </a:solidFill>
          <a:ln w="12700">
            <a:solidFill>
              <a:srgbClr val="FFF1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15568" y="2436876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43F5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!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554480" y="2432304"/>
            <a:ext cx="3429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로컬 SLM 기반이라 실제 외부 LLM 과금 검증은 아님</a:t>
            </a:r>
            <a:endParaRPr lang="en-US" sz="650" dirty="0"/>
          </a:p>
        </p:txBody>
      </p:sp>
      <p:sp>
        <p:nvSpPr>
          <p:cNvPr id="14" name="Shape 12"/>
          <p:cNvSpPr/>
          <p:nvPr/>
        </p:nvSpPr>
        <p:spPr>
          <a:xfrm>
            <a:off x="1115568" y="292608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FF1F2"/>
          </a:solidFill>
          <a:ln w="12700">
            <a:solidFill>
              <a:srgbClr val="FFF1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15568" y="3003804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43F5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!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1554480" y="2999232"/>
            <a:ext cx="3429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10회 반복은 대규모 부하 테스트가 아니라 관측 파이프라인 검증</a:t>
            </a:r>
            <a:endParaRPr lang="en-US" sz="650" dirty="0"/>
          </a:p>
        </p:txBody>
      </p:sp>
      <p:sp>
        <p:nvSpPr>
          <p:cNvPr id="17" name="Shape 15"/>
          <p:cNvSpPr/>
          <p:nvPr/>
        </p:nvSpPr>
        <p:spPr>
          <a:xfrm>
            <a:off x="1115568" y="349300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FF1F2"/>
          </a:solidFill>
          <a:ln w="12700">
            <a:solidFill>
              <a:srgbClr val="FFF1F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15568" y="3570732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43F5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!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1554480" y="3566160"/>
            <a:ext cx="3429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Prometheus에 request_id를 장기 label로 저장하면 cardinality 문제 가능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1115568" y="405993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FF1F2"/>
          </a:solidFill>
          <a:ln w="12700">
            <a:solidFill>
              <a:srgbClr val="FFF1F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15568" y="4137660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43F5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!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554480" y="4133088"/>
            <a:ext cx="3429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raw prompt 저장은 개인정보 · 내부정보 유출 위험</a:t>
            </a:r>
            <a:endParaRPr lang="en-US" sz="650" dirty="0"/>
          </a:p>
        </p:txBody>
      </p:sp>
      <p:sp>
        <p:nvSpPr>
          <p:cNvPr id="23" name="Shape 21"/>
          <p:cNvSpPr/>
          <p:nvPr/>
        </p:nvSpPr>
        <p:spPr>
          <a:xfrm>
            <a:off x="1115568" y="462686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FF1F2"/>
          </a:solidFill>
          <a:ln w="12700">
            <a:solidFill>
              <a:srgbClr val="FFF1F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15568" y="4704588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43F5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!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1554480" y="4700016"/>
            <a:ext cx="3429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답변 품질 · hallucination 평가는 MVP 범위 밖</a:t>
            </a:r>
            <a:endParaRPr lang="en-US" sz="650" dirty="0"/>
          </a:p>
        </p:txBody>
      </p:sp>
      <p:sp>
        <p:nvSpPr>
          <p:cNvPr id="26" name="Shape 24"/>
          <p:cNvSpPr/>
          <p:nvPr/>
        </p:nvSpPr>
        <p:spPr>
          <a:xfrm>
            <a:off x="5989320" y="1645920"/>
            <a:ext cx="4709160" cy="4160520"/>
          </a:xfrm>
          <a:prstGeom prst="roundRect">
            <a:avLst>
              <a:gd name="adj" fmla="val 1319"/>
            </a:avLst>
          </a:prstGeom>
          <a:solidFill>
            <a:srgbClr val="FFFFFF"/>
          </a:solidFill>
          <a:ln w="10160">
            <a:solidFill>
              <a:srgbClr val="D8E2F1"/>
            </a:solidFill>
            <a:prstDash val="solid"/>
          </a:ln>
          <a:effectLst>
            <a:outerShdw sx="100000" sy="100000" kx="0" ky="0" algn="bl" rotWithShape="0" blurRad="15240" dist="50800" dir="2700000">
              <a:srgbClr val="D7DEEC">
                <a:alpha val="23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309360" y="1901952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향후 과제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309360" y="235915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09360" y="2436876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563E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6748272" y="2432304"/>
            <a:ext cx="34564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외부 LLM API 및 실제 Vector DB 기반 RAG 서비스 연동</a:t>
            </a:r>
            <a:endParaRPr lang="en-US" sz="650" dirty="0"/>
          </a:p>
        </p:txBody>
      </p:sp>
      <p:sp>
        <p:nvSpPr>
          <p:cNvPr id="31" name="Shape 29"/>
          <p:cNvSpPr/>
          <p:nvPr/>
        </p:nvSpPr>
        <p:spPr>
          <a:xfrm>
            <a:off x="6309360" y="292608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09360" y="3003804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563E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6748272" y="2999232"/>
            <a:ext cx="34564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prompt masking · 권한 관리 · 장기 저장소 도입</a:t>
            </a:r>
            <a:endParaRPr lang="en-US" sz="650" dirty="0"/>
          </a:p>
        </p:txBody>
      </p:sp>
      <p:sp>
        <p:nvSpPr>
          <p:cNvPr id="34" name="Shape 32"/>
          <p:cNvSpPr/>
          <p:nvPr/>
        </p:nvSpPr>
        <p:spPr>
          <a:xfrm>
            <a:off x="6309360" y="349300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09360" y="3570732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563E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6748272" y="3566160"/>
            <a:ext cx="34564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SLO 기준과 운영 환경용 alert rule 고도화</a:t>
            </a:r>
            <a:endParaRPr lang="en-US" sz="650" dirty="0"/>
          </a:p>
        </p:txBody>
      </p:sp>
      <p:sp>
        <p:nvSpPr>
          <p:cNvPr id="37" name="Shape 35"/>
          <p:cNvSpPr/>
          <p:nvPr/>
        </p:nvSpPr>
        <p:spPr>
          <a:xfrm>
            <a:off x="6309360" y="405993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09360" y="4137660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563E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6748272" y="4133088"/>
            <a:ext cx="34564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request_id는 trace/log 중심, metric은 집계 label 중심으로 개선</a:t>
            </a:r>
            <a:endParaRPr lang="en-US" sz="650" dirty="0"/>
          </a:p>
        </p:txBody>
      </p:sp>
      <p:sp>
        <p:nvSpPr>
          <p:cNvPr id="40" name="Shape 38"/>
          <p:cNvSpPr/>
          <p:nvPr/>
        </p:nvSpPr>
        <p:spPr>
          <a:xfrm>
            <a:off x="6309360" y="462686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09360" y="4704588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563E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6748272" y="4700016"/>
            <a:ext cx="34564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RAG 근거 일치도 · LLM-as-a-judge 품질 평가 추가</a:t>
            </a:r>
            <a:endParaRPr lang="en-US" sz="650" dirty="0"/>
          </a:p>
        </p:txBody>
      </p:sp>
      <p:sp>
        <p:nvSpPr>
          <p:cNvPr id="43" name="Text 41"/>
          <p:cNvSpPr/>
          <p:nvPr/>
        </p:nvSpPr>
        <p:spPr>
          <a:xfrm>
            <a:off x="585216" y="647395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2563E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OLLY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987552" y="647395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A7B2C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·  LLM 운영 관측성 MVP</a:t>
            </a:r>
            <a:endParaRPr lang="en-US" sz="670" dirty="0"/>
          </a:p>
        </p:txBody>
      </p:sp>
      <p:sp>
        <p:nvSpPr>
          <p:cNvPr id="45" name="Text 43"/>
          <p:cNvSpPr/>
          <p:nvPr/>
        </p:nvSpPr>
        <p:spPr>
          <a:xfrm>
            <a:off x="11045952" y="647395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670" dirty="0">
                <a:solidFill>
                  <a:srgbClr val="A7B2C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13 / 14</a:t>
            </a:r>
            <a:endParaRPr lang="en-US" sz="67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01B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1B4C"/>
          </a:solidFill>
          <a:ln w="12700">
            <a:solidFill>
              <a:srgbClr val="201B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-731520"/>
            <a:ext cx="4937760" cy="4023360"/>
          </a:xfrm>
          <a:prstGeom prst="ellipse">
            <a:avLst/>
          </a:prstGeom>
          <a:solidFill>
            <a:srgbClr val="164E63">
              <a:alpha val="6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-731520"/>
            <a:ext cx="5669280" cy="4480560"/>
          </a:xfrm>
          <a:prstGeom prst="ellipse">
            <a:avLst/>
          </a:prstGeom>
          <a:solidFill>
            <a:srgbClr val="4C1D95">
              <a:alpha val="7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548640"/>
            <a:ext cx="548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60" b="1" dirty="0">
                <a:solidFill>
                  <a:srgbClr val="10B98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결론</a:t>
            </a:r>
            <a:endParaRPr lang="en-US" sz="760" dirty="0"/>
          </a:p>
        </p:txBody>
      </p:sp>
      <p:sp>
        <p:nvSpPr>
          <p:cNvPr id="6" name="Text 4"/>
          <p:cNvSpPr/>
          <p:nvPr/>
        </p:nvSpPr>
        <p:spPr>
          <a:xfrm>
            <a:off x="603504" y="86868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2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LLM 시대의 운영 핵심은 “요청 단위 운영 가시성”</a:t>
            </a:r>
            <a:endParaRPr lang="en-US" sz="2020" dirty="0"/>
          </a:p>
        </p:txBody>
      </p:sp>
      <p:sp>
        <p:nvSpPr>
          <p:cNvPr id="7" name="Text 5"/>
          <p:cNvSpPr/>
          <p:nvPr/>
        </p:nvSpPr>
        <p:spPr>
          <a:xfrm>
            <a:off x="603504" y="1481328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DDE7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OLLY는 LLM 요청 하나를 비용 · 지연 · 병목 · 실패 · 알림까지 연결해 보여주는 관측성 MVP입니다.</a:t>
            </a:r>
            <a:endParaRPr lang="en-US" sz="820" dirty="0"/>
          </a:p>
        </p:txBody>
      </p:sp>
      <p:sp>
        <p:nvSpPr>
          <p:cNvPr id="8" name="Text 6"/>
          <p:cNvSpPr/>
          <p:nvPr/>
        </p:nvSpPr>
        <p:spPr>
          <a:xfrm>
            <a:off x="621792" y="214884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10B98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핵심 성과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868680" y="2907792"/>
            <a:ext cx="2971800" cy="1463040"/>
          </a:xfrm>
          <a:prstGeom prst="roundRect">
            <a:avLst>
              <a:gd name="adj" fmla="val 3750"/>
            </a:avLst>
          </a:prstGeom>
          <a:solidFill>
            <a:srgbClr val="3A3477"/>
          </a:solidFill>
          <a:ln w="10160">
            <a:solidFill>
              <a:srgbClr val="4A438B"/>
            </a:solidFill>
            <a:prstDash val="solid"/>
          </a:ln>
          <a:effectLst>
            <a:outerShdw sx="100000" sy="100000" kx="0" ky="0" algn="bl" rotWithShape="0" blurRad="15240" dist="50800" dir="2700000">
              <a:srgbClr val="D7DEEC">
                <a:alpha val="2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143000" y="331012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43000" y="3387852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ID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383280" y="3127248"/>
            <a:ext cx="201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43000" y="3675888"/>
            <a:ext cx="1371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요청 연결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143000" y="388620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80" dirty="0">
                <a:solidFill>
                  <a:srgbClr val="CBD5E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request_id / trace_id로</a:t>
            </a:r>
            <a:endParaRPr lang="en-US" sz="580" dirty="0"/>
          </a:p>
          <a:p>
            <a:pPr algn="l" indent="0" marL="0">
              <a:buNone/>
            </a:pPr>
            <a:r>
              <a:rPr lang="en-US" sz="580" dirty="0">
                <a:solidFill>
                  <a:srgbClr val="CBD5E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Chat UI · Dashboard · Jaeger · Prometheus 연결</a:t>
            </a:r>
            <a:endParaRPr lang="en-US" sz="580" dirty="0"/>
          </a:p>
        </p:txBody>
      </p:sp>
      <p:sp>
        <p:nvSpPr>
          <p:cNvPr id="15" name="Shape 13"/>
          <p:cNvSpPr/>
          <p:nvPr/>
        </p:nvSpPr>
        <p:spPr>
          <a:xfrm>
            <a:off x="4389120" y="2907792"/>
            <a:ext cx="2971800" cy="1463040"/>
          </a:xfrm>
          <a:prstGeom prst="roundRect">
            <a:avLst>
              <a:gd name="adj" fmla="val 3750"/>
            </a:avLst>
          </a:prstGeom>
          <a:solidFill>
            <a:srgbClr val="3A3477"/>
          </a:solidFill>
          <a:ln w="10160">
            <a:solidFill>
              <a:srgbClr val="4A438B"/>
            </a:solidFill>
            <a:prstDash val="solid"/>
          </a:ln>
          <a:effectLst>
            <a:outerShdw sx="100000" sy="100000" kx="0" ky="0" algn="bl" rotWithShape="0" blurRad="15240" dist="50800" dir="2700000">
              <a:srgbClr val="D7DEEC">
                <a:alpha val="2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331012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3387852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6903720" y="3127248"/>
            <a:ext cx="201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663440" y="3675888"/>
            <a:ext cx="1371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CNCF 접목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663440" y="388620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80" dirty="0">
                <a:solidFill>
                  <a:srgbClr val="CBD5E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Kubernetes · OpenTelemetry · Prometheus · Jaeger를</a:t>
            </a:r>
            <a:endParaRPr lang="en-US" sz="580" dirty="0"/>
          </a:p>
          <a:p>
            <a:pPr algn="l" indent="0" marL="0">
              <a:buNone/>
            </a:pPr>
            <a:r>
              <a:rPr lang="en-US" sz="580" dirty="0">
                <a:solidFill>
                  <a:srgbClr val="CBD5E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LLM 운영 흐름에 적용</a:t>
            </a:r>
            <a:endParaRPr lang="en-US" sz="580" dirty="0"/>
          </a:p>
        </p:txBody>
      </p:sp>
      <p:sp>
        <p:nvSpPr>
          <p:cNvPr id="21" name="Shape 19"/>
          <p:cNvSpPr/>
          <p:nvPr/>
        </p:nvSpPr>
        <p:spPr>
          <a:xfrm>
            <a:off x="7909560" y="2907792"/>
            <a:ext cx="2971800" cy="1463040"/>
          </a:xfrm>
          <a:prstGeom prst="roundRect">
            <a:avLst>
              <a:gd name="adj" fmla="val 3750"/>
            </a:avLst>
          </a:prstGeom>
          <a:solidFill>
            <a:srgbClr val="3A3477"/>
          </a:solidFill>
          <a:ln w="10160">
            <a:solidFill>
              <a:srgbClr val="4A438B"/>
            </a:solidFill>
            <a:prstDash val="solid"/>
          </a:ln>
          <a:effectLst>
            <a:outerShdw sx="100000" sy="100000" kx="0" ky="0" algn="bl" rotWithShape="0" blurRad="15240" dist="50800" dir="2700000">
              <a:srgbClr val="D7DEEC">
                <a:alpha val="23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183880" y="331012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183880" y="3387852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✓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10424160" y="3127248"/>
            <a:ext cx="201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183880" y="3675888"/>
            <a:ext cx="1371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운영 판단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8183880" y="388620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80" dirty="0">
                <a:solidFill>
                  <a:srgbClr val="CBD5E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느린 요청, 비용 증가, 실패 요청을</a:t>
            </a:r>
            <a:endParaRPr lang="en-US" sz="580" dirty="0"/>
          </a:p>
          <a:p>
            <a:pPr algn="l" indent="0" marL="0">
              <a:buNone/>
            </a:pPr>
            <a:r>
              <a:rPr lang="en-US" sz="580" dirty="0">
                <a:solidFill>
                  <a:srgbClr val="CBD5E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데이터 기반으로 추적</a:t>
            </a:r>
            <a:endParaRPr lang="en-US" sz="580" dirty="0"/>
          </a:p>
        </p:txBody>
      </p:sp>
      <p:sp>
        <p:nvSpPr>
          <p:cNvPr id="27" name="Shape 25"/>
          <p:cNvSpPr/>
          <p:nvPr/>
        </p:nvSpPr>
        <p:spPr>
          <a:xfrm>
            <a:off x="841248" y="5257800"/>
            <a:ext cx="9829800" cy="402336"/>
          </a:xfrm>
          <a:prstGeom prst="roundRect">
            <a:avLst>
              <a:gd name="adj" fmla="val 9091"/>
            </a:avLst>
          </a:prstGeom>
          <a:solidFill>
            <a:srgbClr val="39337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15568" y="5394960"/>
            <a:ext cx="914400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B6F2E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즉, OLLY는 LLM 서비스를 운영하기 위한 관측성 계층입니다.</a:t>
            </a:r>
            <a:endParaRPr lang="en-US" sz="680" dirty="0"/>
          </a:p>
        </p:txBody>
      </p:sp>
      <p:sp>
        <p:nvSpPr>
          <p:cNvPr id="29" name="Text 27"/>
          <p:cNvSpPr/>
          <p:nvPr/>
        </p:nvSpPr>
        <p:spPr>
          <a:xfrm>
            <a:off x="9372600" y="6327648"/>
            <a:ext cx="2103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590" dirty="0">
                <a:solidFill>
                  <a:srgbClr val="CBD5E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OLLY · 오픈소스SW분석 (클라우드) 5팀</a:t>
            </a:r>
            <a:endParaRPr lang="en-US" sz="590" dirty="0"/>
          </a:p>
        </p:txBody>
      </p:sp>
      <p:sp>
        <p:nvSpPr>
          <p:cNvPr id="30" name="Text 28"/>
          <p:cNvSpPr/>
          <p:nvPr/>
        </p:nvSpPr>
        <p:spPr>
          <a:xfrm>
            <a:off x="585216" y="647395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OLLY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987552" y="647395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CBD5E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·  LLM 운영 관측성 MVP</a:t>
            </a:r>
            <a:endParaRPr lang="en-US" sz="670" dirty="0"/>
          </a:p>
        </p:txBody>
      </p:sp>
      <p:sp>
        <p:nvSpPr>
          <p:cNvPr id="32" name="Text 30"/>
          <p:cNvSpPr/>
          <p:nvPr/>
        </p:nvSpPr>
        <p:spPr>
          <a:xfrm>
            <a:off x="11045952" y="647395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670" dirty="0">
                <a:solidFill>
                  <a:srgbClr val="CBD5E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14 / 14</a:t>
            </a:r>
            <a:endParaRPr lang="en-US" sz="67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ple SD Gothic Ne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ple SD Gothic Ne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OLLY Team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OLLY 최종 발표 - 가이드라인 반영</dc:title>
  <dc:subject>CNCF 오픈소스 기반 LLM 운영 관측성 MVP</dc:subject>
  <dc:creator>OLLY Team</dc:creator>
  <cp:lastModifiedBy>OLLY Team</cp:lastModifiedBy>
  <cp:revision>1</cp:revision>
  <dcterms:created xsi:type="dcterms:W3CDTF">2026-06-03T13:22:37Z</dcterms:created>
  <dcterms:modified xsi:type="dcterms:W3CDTF">2026-06-03T13:22:37Z</dcterms:modified>
</cp:coreProperties>
</file>