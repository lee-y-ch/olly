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2ea6e7f7049e6" /><Relationship Type="http://schemas.openxmlformats.org/officeDocument/2006/relationships/extended-properties" Target="/docProps/app.xml" Id="R2eccd3ddf79746c5" /><Relationship Type="http://schemas.openxmlformats.org/officeDocument/2006/relationships/officeDocument" Target="/ppt/presentation.xml" Id="R047d9e5ce728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f325f784264675"/>
  </p:sldMasterIdLst>
  <p:notesMasterIdLst>
    <p:notesMasterId xmlns:r="http://schemas.openxmlformats.org/officeDocument/2006/relationships" r:id="Rd238b8846f17429e"/>
  </p:notesMasterIdLst>
  <p:sldIdLst>
    <p:sldId xmlns:r="http://schemas.openxmlformats.org/officeDocument/2006/relationships" id="256" r:id="R3ada7037f59d4e82"/>
    <p:sldId xmlns:r="http://schemas.openxmlformats.org/officeDocument/2006/relationships" id="257" r:id="R451b4d3fd4e44b0e"/>
    <p:sldId xmlns:r="http://schemas.openxmlformats.org/officeDocument/2006/relationships" id="258" r:id="Ra398d1a235db4987"/>
    <p:sldId xmlns:r="http://schemas.openxmlformats.org/officeDocument/2006/relationships" id="259" r:id="R7bd9075d011a478b"/>
    <p:sldId xmlns:r="http://schemas.openxmlformats.org/officeDocument/2006/relationships" id="260" r:id="Rf1b63a33407b4b66"/>
    <p:sldId xmlns:r="http://schemas.openxmlformats.org/officeDocument/2006/relationships" id="261" r:id="R4eca43d6b09c445b"/>
    <p:sldId xmlns:r="http://schemas.openxmlformats.org/officeDocument/2006/relationships" id="262" r:id="R208ec3c2a45a4cb4"/>
    <p:sldId xmlns:r="http://schemas.openxmlformats.org/officeDocument/2006/relationships" id="263" r:id="Raef4c68d1c50433f"/>
    <p:sldId xmlns:r="http://schemas.openxmlformats.org/officeDocument/2006/relationships" id="264" r:id="R9a101e96b25a4570"/>
    <p:sldId xmlns:r="http://schemas.openxmlformats.org/officeDocument/2006/relationships" id="265" r:id="Rf143721a60824f4d"/>
    <p:sldId xmlns:r="http://schemas.openxmlformats.org/officeDocument/2006/relationships" id="266" r:id="R2c66b69984cd4b11"/>
    <p:sldId xmlns:r="http://schemas.openxmlformats.org/officeDocument/2006/relationships" id="267" r:id="Rec6d0220452e4c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df592b38046fd" /><Relationship Type="http://schemas.openxmlformats.org/officeDocument/2006/relationships/slideMaster" Target="/ppt/slideMasters/slideMaster1.xml" Id="R13f325f784264675" /><Relationship Type="http://schemas.openxmlformats.org/officeDocument/2006/relationships/notesMaster" Target="/ppt/notesMasters/notesMaster1.xml" Id="Rd238b8846f17429e" /><Relationship Type="http://schemas.openxmlformats.org/officeDocument/2006/relationships/presProps" Target="/ppt/presProps.xml" Id="Ra07c852dbcfe44ae" /><Relationship Type="http://schemas.openxmlformats.org/officeDocument/2006/relationships/viewProps" Target="/ppt/viewProps.xml" Id="R451f79bab3864676" /><Relationship Type="http://schemas.openxmlformats.org/officeDocument/2006/relationships/tableStyles" Target="/ppt/tableStyles.xml" Id="R423257f9066e4bfd" /><Relationship Type="http://schemas.openxmlformats.org/officeDocument/2006/relationships/slide" Target="/ppt/slides/slide1.xml" Id="R3ada7037f59d4e82" /><Relationship Type="http://schemas.openxmlformats.org/officeDocument/2006/relationships/slide" Target="/ppt/slides/slide2.xml" Id="R451b4d3fd4e44b0e" /><Relationship Type="http://schemas.openxmlformats.org/officeDocument/2006/relationships/slide" Target="/ppt/slides/slide3.xml" Id="Ra398d1a235db4987" /><Relationship Type="http://schemas.openxmlformats.org/officeDocument/2006/relationships/slide" Target="/ppt/slides/slide4.xml" Id="R7bd9075d011a478b" /><Relationship Type="http://schemas.openxmlformats.org/officeDocument/2006/relationships/slide" Target="/ppt/slides/slide5.xml" Id="Rf1b63a33407b4b66" /><Relationship Type="http://schemas.openxmlformats.org/officeDocument/2006/relationships/slide" Target="/ppt/slides/slide6.xml" Id="R4eca43d6b09c445b" /><Relationship Type="http://schemas.openxmlformats.org/officeDocument/2006/relationships/slide" Target="/ppt/slides/slide7.xml" Id="R208ec3c2a45a4cb4" /><Relationship Type="http://schemas.openxmlformats.org/officeDocument/2006/relationships/slide" Target="/ppt/slides/slide8.xml" Id="Raef4c68d1c50433f" /><Relationship Type="http://schemas.openxmlformats.org/officeDocument/2006/relationships/slide" Target="/ppt/slides/slide9.xml" Id="R9a101e96b25a4570" /><Relationship Type="http://schemas.openxmlformats.org/officeDocument/2006/relationships/slide" Target="/ppt/slides/slide10.xml" Id="Rf143721a60824f4d" /><Relationship Type="http://schemas.openxmlformats.org/officeDocument/2006/relationships/slide" Target="/ppt/slides/slide11.xml" Id="R2c66b69984cd4b11" /><Relationship Type="http://schemas.openxmlformats.org/officeDocument/2006/relationships/slide" Target="/ppt/slides/slide12.xml" Id="Rec6d0220452e4c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647ee43ac4e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0a50fe12b4a1f" /><Relationship Type="http://schemas.openxmlformats.org/officeDocument/2006/relationships/notesMaster" Target="/ppt/notesMasters/notesMaster1.xml" Id="Ra733bfe8850f41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15fb2c48464e07" /><Relationship Type="http://schemas.openxmlformats.org/officeDocument/2006/relationships/notesMaster" Target="/ppt/notesMasters/notesMaster1.xml" Id="Rc6e4998164e1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69ac9f8c74f17" /><Relationship Type="http://schemas.openxmlformats.org/officeDocument/2006/relationships/notesMaster" Target="/ppt/notesMasters/notesMaster1.xml" Id="R958c771709c041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bff799bf7b4b30" /><Relationship Type="http://schemas.openxmlformats.org/officeDocument/2006/relationships/notesMaster" Target="/ppt/notesMasters/notesMaster1.xml" Id="R8be9bf9925e64e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7561c097e548dc" /><Relationship Type="http://schemas.openxmlformats.org/officeDocument/2006/relationships/notesMaster" Target="/ppt/notesMasters/notesMaster1.xml" Id="Rdbd6742edda8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7db48695ec414d" /><Relationship Type="http://schemas.openxmlformats.org/officeDocument/2006/relationships/notesMaster" Target="/ppt/notesMasters/notesMaster1.xml" Id="R7e5d78692674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c0300b9484817" /><Relationship Type="http://schemas.openxmlformats.org/officeDocument/2006/relationships/notesMaster" Target="/ppt/notesMasters/notesMaster1.xml" Id="R1284f2c3439d4b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bb9ad56824d60" /><Relationship Type="http://schemas.openxmlformats.org/officeDocument/2006/relationships/notesMaster" Target="/ppt/notesMasters/notesMaster1.xml" Id="R59af9b070d764e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0d0a1f12874632" /><Relationship Type="http://schemas.openxmlformats.org/officeDocument/2006/relationships/notesMaster" Target="/ppt/notesMasters/notesMaster1.xml" Id="Rb1de1e6c856042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aa5ac2b194831" /><Relationship Type="http://schemas.openxmlformats.org/officeDocument/2006/relationships/notesMaster" Target="/ppt/notesMasters/notesMaster1.xml" Id="R1389d29d519f4b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4b17eeb74b445a" /><Relationship Type="http://schemas.openxmlformats.org/officeDocument/2006/relationships/notesMaster" Target="/ppt/notesMasters/notesMaster1.xml" Id="R3a14c916c0b94d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8647b5c3c44d03" /><Relationship Type="http://schemas.openxmlformats.org/officeDocument/2006/relationships/notesMaster" Target="/ppt/notesMasters/notesMaster1.xml" Id="R07927c035b3146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479c71cbc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56c27be35d49e7" /><Relationship Type="http://schemas.openxmlformats.org/officeDocument/2006/relationships/slideLayout" Target="/ppt/slideLayouts/slideLayout1.xml" Id="Rdac9d4f1f857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9d4f1f857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8a040efa84ef1" /><Relationship Type="http://schemas.openxmlformats.org/officeDocument/2006/relationships/image" Target="/ppt/media/image.png" Id="R17ced3126b07455d" /><Relationship Type="http://schemas.openxmlformats.org/officeDocument/2006/relationships/notesSlide" Target="/ppt/notesSlides/notesSlide1.xml" Id="Rd8a6705fac90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b92ad85f345e3" /><Relationship Type="http://schemas.openxmlformats.org/officeDocument/2006/relationships/notesSlide" Target="/ppt/notesSlides/notesSlide2.xml" Id="Ref7107176aae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f91715ecf4b3f" /><Relationship Type="http://schemas.openxmlformats.org/officeDocument/2006/relationships/notesSlide" Target="/ppt/notesSlides/notesSlide3.xml" Id="Ra7cadfa3ae5645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ec78a43064f9e" /><Relationship Type="http://schemas.openxmlformats.org/officeDocument/2006/relationships/image" Target="/ppt/media/image2.png" Id="R83efe1e768f24f6c" /><Relationship Type="http://schemas.openxmlformats.org/officeDocument/2006/relationships/notesSlide" Target="/ppt/notesSlides/notesSlide4.xml" Id="R7e6f34c6453649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d96ced5b14c44" /><Relationship Type="http://schemas.openxmlformats.org/officeDocument/2006/relationships/notesSlide" Target="/ppt/notesSlides/notesSlide5.xml" Id="R9a2344a22c16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c81c2db924f21" /><Relationship Type="http://schemas.openxmlformats.org/officeDocument/2006/relationships/image" Target="/ppt/media/image3.png" Id="R6f2ad3a8c7794484" /><Relationship Type="http://schemas.openxmlformats.org/officeDocument/2006/relationships/image" Target="/ppt/media/image4.png" Id="Rd5cf05524c5b4acc" /><Relationship Type="http://schemas.openxmlformats.org/officeDocument/2006/relationships/notesSlide" Target="/ppt/notesSlides/notesSlide6.xml" Id="R110a7f0df4e44d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2f3de87c4efe" /><Relationship Type="http://schemas.openxmlformats.org/officeDocument/2006/relationships/image" Target="/ppt/media/image.jpeg" Id="R45ca5bb27b494caa" /><Relationship Type="http://schemas.openxmlformats.org/officeDocument/2006/relationships/notesSlide" Target="/ppt/notesSlides/notesSlide7.xml" Id="R6fab24cc999c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06507fe994648" /><Relationship Type="http://schemas.openxmlformats.org/officeDocument/2006/relationships/notesSlide" Target="/ppt/notesSlides/notesSlide8.xml" Id="Rc5506c8a9383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23133f24e4e6f" /><Relationship Type="http://schemas.openxmlformats.org/officeDocument/2006/relationships/image" Target="/ppt/media/image5.png" Id="R8c093649af594aae" /><Relationship Type="http://schemas.openxmlformats.org/officeDocument/2006/relationships/notesSlide" Target="/ppt/notesSlides/notesSlide9.xml" Id="Rbd7b2f2b921442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ed8ef295f479a" /><Relationship Type="http://schemas.openxmlformats.org/officeDocument/2006/relationships/notesSlide" Target="/ppt/notesSlides/notesSlide10.xml" Id="R5bd0206d390640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5419bb2e24b7f" /><Relationship Type="http://schemas.openxmlformats.org/officeDocument/2006/relationships/notesSlide" Target="/ppt/notesSlides/notesSlide11.xml" Id="R0d9d4b5009b846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81caf4e2643c2" /><Relationship Type="http://schemas.openxmlformats.org/officeDocument/2006/relationships/notesSlide" Target="/ppt/notesSlides/notesSlide12.xml" Id="R008ba6858d4845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B5EA5-F561-4A79-B45A-D3360D5B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88171-14FD-4346-97E9-319FB0FA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39AC7-E5F5-4F93-904A-EF5AC2E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서비스 관측성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0DFD1-2AC7-4928-B3C1-C870A0E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비용, 지연, 병목, 실패를 하나의 요청 단위로 추적합니다.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AAF65-F6B4-41B2-977E-B841307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BA404-6D14-4276-91FD-C347901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Kubernetes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38F6F-3595-4A90-93FD-D328B141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57500"/>
            <a:ext cx="1333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35BAF-27BF-48E1-BA67-08CE5E38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OpenTelemetry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F1C56-57DB-4F15-84D0-5754CDC6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991A9-B12C-4436-92EF-EABDCC07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337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E5B48-BA90-4314-A847-E5C97A5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03803-C5B8-4F6E-8786-289FB263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Jaeger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05F36-933D-48E3-A31F-04B48664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429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D4E07-B019-4FF0-8037-14FB578C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14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정상 요청 p50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9B438-E3C3-452E-9E68-498E337E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1.47초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1AC8B-3574-449E-BBA9-6AD64557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normal 시나리오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0B568-BEAC-4052-822C-0B68E851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429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B488F-3AD8-42F4-ACA4-08A0800A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14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토큰 과다 p50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6E421-FAA8-4631-80C7-E905D1E6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81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34.58초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6FCF1-D5F5-4A02-B7B0-65A25E9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2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high_token 시나리오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6BD1A-68BB-4990-88F3-2B802A20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607D3-F59E-4476-AFF1-45325837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추적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38171-47DF-4E61-9BE0-06F2936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265E5-B738-419C-A80E-3BC35C9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14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status=error 보존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B8D47-7781-48BD-ABBB-A5BF3DBA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4F3C46-C7D9-4910-86B2-FDBC04DF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적용 도구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BA5F2-B7AE-40C1-B7D8-B97664FD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53025-8315-4AE1-A5C9-6B9EA84A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중심 구성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ed3126b07455d"/>
          <a:stretch xmlns:a="http://schemas.openxmlformats.org/drawingml/2006/main"/>
        </p:blipFill>
        <p:spPr>
          <a:xfrm xmlns:a="http://schemas.openxmlformats.org/drawingml/2006/main">
            <a:off x="7277100" y="3733800"/>
            <a:ext cx="3905250" cy="21907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DD0B8-CDBB-4EE8-A431-DACBFF5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4057650" cy="2343150"/>
          </a:xfrm>
          <a:prstGeom xmlns:a="http://schemas.openxmlformats.org/drawingml/2006/main" prst="roundRect">
            <a:avLst>
              <a:gd name="adj" fmla="val 325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26B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3647DD-306B-4C25-9682-0AAAF5A2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오픈소스SW분석(클라우드) 5조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5380D-1FCF-4C07-88BD-C37A153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5CA5F-82A4-4AD7-B50B-B08542A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7D2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21028266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8BDDC-A135-41FD-82DD-2F73015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4367-2B62-4C58-B1B6-55E640E0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87DE1-655F-4D89-AAC4-FD31CB4F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4B170-014D-413E-9AE7-8A462716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403FA-6AEE-4BE8-9363-892D760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우리가 풀려던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BC20D-2E99-48A9-A0B5-DB48B4E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D5398-E312-4623-8C5B-637CC2F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44DA6-131F-4AA3-BA81-419F3EF2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겉으로 보이는 현상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AACDF-654E-4AC7-B798-577D956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사용자는 “느리다” 또는 “실패했다”만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3A73B-5E48-4106-AF2A-63319EF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71F93-26C9-41DA-830A-A8321F5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CE5C7-2871-4604-9960-AD69775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운영자가 알아야 할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FAFEA-3644-4D56-9FD3-31A88B29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291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단계인지, 모델 호출인지, 토큰 증가인지 구분해야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6FCB9-0D5B-4694-92ED-E59BE299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145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0A305-0A53-4DCB-9FF2-3F05774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3357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/chat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6A495-06AA-4BB4-92B2-007A45E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6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58C20-3EB9-44EA-A819-249C858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81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F"/>
          </a:solidFill>
          <a:ln xmlns:a="http://schemas.openxmlformats.org/drawingml/2006/main" w="0">
            <a:solidFill>
              <a:srgbClr val="DFF6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76BE4-E6D8-45F7-9E53-3AA2F620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719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EEBE0-5EF0-4CDE-AA3E-7F160378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81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EEF2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llm_call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686D1-0A1B-4DA2-8CB9-0843CE36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719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48F82-CFA7-4CB2-BD17-53054A4D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2EEBF-E163-4706-91E4-DBD3E0F6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19350"/>
            <a:ext cx="-2124075" cy="1352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A5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353EA-8C35-44D1-A437-B2D50440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557F2-3646-41B1-B6B1-D87BDE22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5363B-56AE-4F39-9DA1-5B321EBA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OLLY의 목표는 단순 모니터링이 아닙니다.</a:t>
            </a:r>
          </a:p>
          <a:p xmlns:a="http://schemas.openxmlformats.org/drawingml/2006/main">
            <a:pPr algn="ctr">
              <a:defRPr sz="202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하나를 따라가며 원인을 좁히는 것입니다.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1B03F-0C6A-4FB1-AD08-1F1A710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7E295-721D-4C2D-93DE-E4EF9403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9344879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6EEC7-545F-452F-99D0-51AA4A2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11424-785E-4B19-BC22-0CCA46C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0BD2F-8745-4CF3-ADC4-B483B094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1423-83E7-4724-B4DC-D2B56E9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C5A58-A414-40F3-B26B-12C35FAF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1차 발표 뒤 바뀐 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7C658-56AE-43A8-8D09-50A6A79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30E78-6204-4708-AB5E-2DDED82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43BD3-3E9B-4B94-85CD-BEDDDBA7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아이디어에서 실행 환경으로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1950C-DA8A-4A4B-8D50-ADD15A0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009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Ollama gemma3:1b 기반 샘플 /chat API를 만들고 반복 검증이 가능하게 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50C31-1CDA-45BE-A200-F9F23B0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44DC6-BFC3-41F6-8CBD-7BB8CFA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5E94E-B7A8-4C2C-8372-E7DD4C9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기능 설명에서 원인 추적으로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A1FBD-4C56-4F09-B86C-CBFAEB3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3009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request_id와 trace_id를 응답, metric, trace에 함께 남겼습니다.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CB58D-F36B-48B8-93FE-C10D7B03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C6412-D4EF-4A24-AF75-FA1E0439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DDE12-F778-432B-BC4E-8490B6D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안 알림에서 운영 알림으로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84FD6-EAFB-417B-80F3-6B05D2A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3009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 alert와 Discord webhook으로 이상 신호를 외부 채널까지 보냈습니다.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58087-5779-4846-A8B6-722D42B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1019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72436-38D5-4156-8812-9A67847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발표의 초점도 바뀌었습니다.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B0E4A-B8EA-4D0B-AA21-6B62E9EB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“무엇을 만들겠다”가 아니라 “문제를 주입했고, 원인을 끝까지 추적했다”를 보여줍니다.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8B133-42F5-4C17-A205-8D69346F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F6656-F7CA-44AB-9285-5D5D272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267959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30CB6-6396-45AE-B64B-DB4D00BD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DC2F-C609-4B4D-B4F4-1FD97EAB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DFD30-851F-4859-B8B8-9F65681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E2D0F-BA5C-4D4B-AF6D-697FC1B9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6BDEF-B9B5-4FE3-9FA5-C96E58C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최종 아키텍처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e1e768f24f6c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ACED9-5BAD-43F4-A9D0-FE5EAB3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D44D-BBD1-457D-BAB0-F63B6B5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1E941-8630-44B2-9022-783AD418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C73AA-DDE9-4161-AE3C-9585D25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16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8085E-F070-4355-AFD1-E9E96D83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UI에서 /chat API로 들어온 요청이 retrieve, llm_call, postprocess를 거칩니다.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8A973-DB3A-4EC2-99F6-313C845D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22309-2A5A-4F62-9313-72F61FB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557F0-2FC2-4608-8A86-4B5C9939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관측 수집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A4594-AB7B-45BF-A095-51D2D198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OpenTelemetry와 Prometheus가 trace와 metric을 따로 수집합니다.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F0C3E-7463-494F-857E-E1899DB5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9DEF9-5844-4C2B-9F48-92A52C6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89F62-E91A-419E-A743-36AAF253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29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운영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753E2-79BF-4367-8BBE-61BB5DD8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015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대시보드와 분석 챗봇은 저장된 데이터를 조회해 원인을 설명합니다.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6760D-4EAC-43DD-8DF2-F72A0CB5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71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핵심은 서비스 로직과 관측 파이프라인을 분리한 것입니다.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F9048-B8D4-418E-AEBB-52D1F4BA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B4DA0-749B-4ECF-B12C-D6E10BDB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1792284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A0C74-8926-4AEC-9B2C-F121871A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B9D14-AD62-43F6-A01E-3A87D8E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B7E8B-5BE8-47AE-A9FE-5DEBF843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D0113-3132-469B-AF49-DC7B4F9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Trace-Metric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67BB5-FA4E-4550-8890-0142A8D3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하나를 끝까지 연결하는 방식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E685B-F57B-4695-9BFF-B7779BB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89822-10B7-488F-BC07-2EC5C69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59D0B-F1BA-4D5A-830D-78A718F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A5722-22F5-4694-BFC4-F1EE3F6D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/chat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6C788-72A4-47C8-A49E-8DAFD70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DFE8B-749A-4A47-BAD3-CE548775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0">
            <a:solidFill>
              <a:srgbClr val="ECFE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410C7-CE54-406A-8360-2E06B97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F2B40-39D1-4B32-913C-AE45C46C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EEF2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llm_call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44EA2-1CCA-4769-9D70-D8A46E67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448D1-2874-49C9-A630-BFE09127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30BC2-ECC0-4C6B-A18D-5013A36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DF563-7ADD-4974-A392-09DA9798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응답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9E272-DBAA-48F6-81B9-1CF914B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292B4-6B2B-4056-B25E-BB66A14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C6F0F-05B1-493F-89A2-7D27E3D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045AE-E5B5-4553-BDDD-B6E87AF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15B23-F627-4C40-B72E-FF2A0221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47AA0-86B3-48D9-9FA7-B4B51D5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50EBA-8C79-450F-8D34-98DDE3AD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00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공통 식별자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9DD5F-DBD3-481E-B364-CA1FB10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 + trace_id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5A27E-E5D4-4E1F-9ECC-19A069F4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9EF17-C7CC-49BD-B601-ABDEA8F9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DD49C-07EC-4CA9-B370-45219F0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Metric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254C2-4C48-42C2-9A22-B9AE42C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latency, token, cost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FFEB2-575A-41F8-A271-B329B180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339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5EB071-9D05-4519-A0D4-1B28C3F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Jaeger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33C71-AA31-4A52-93AB-8B830D9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72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4FACE0-A38C-42F2-B5D6-63191F8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53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단계별 span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32B346-5F40-45C1-B6B1-34E5CD3E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DED9D-E623-4260-9DCC-0DBB858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E31B6-15D5-4E3E-8960-2E7F086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53C76-9FA0-41BD-A03E-BF9CAEE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최근 요청과 병목 요약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133956-2C51-40F4-BA37-0D85699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25851B-1FBE-4BEC-A4C1-579B88D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9570548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E7C75-519C-4167-A210-5AEB8C7D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1530E-8457-4512-A98E-F3579A1A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DE62E-0A32-4E62-BC91-B86D8AD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F4ACC-CA83-4941-B539-96E38C0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오픈소스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08F09-CBA4-487D-9CA0-E0A74C39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프로젝트의 실제 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89723-2924-4FB9-AC29-03B1FCA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46F22-3CDD-49C3-8F24-B677A380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BA398-F2E4-451E-BCE7-4C0167A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Kubernetes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78BD0-B51D-4CDC-BFB8-655270C7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4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재현 가능한 배포 환경을 제공합니다.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7E1B1-F60F-4A25-A15F-9632A43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83531-0D15-4161-9B1F-BE559A6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3BC06-8FBA-48C0-B2DD-6D9D740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2E1C5-48EA-477C-841D-6545B82F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FastAPI 요청을 span 단위로 계측합니다.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D6FF9-FD30-4C37-B172-0904351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4A68-CA13-4701-B0F2-54762130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2AD7B-FE2D-4FB8-AC8A-028EA66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33A3E-B9A7-41CD-8233-223FCE3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latency, token, cost, error를 저장하고 알림을 평가합니다.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DC4FD-C416-4BF1-A5F9-BB0554DF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B30CF-416E-4CCD-8ACC-55262E9F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92008-07AF-4D3E-99EB-FDC8154C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Jaeger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86C14-DA3F-4A3B-AA9A-2EBD4111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특정 요청의 병목 위치를 trace로 확인합니다.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ad3a8c7794484"/>
          <a:stretch xmlns:a="http://schemas.openxmlformats.org/drawingml/2006/main"/>
        </p:blipFill>
        <p:spPr>
          <a:xfrm xmlns:a="http://schemas.openxmlformats.org/drawingml/2006/main">
            <a:off x="876300" y="3352800"/>
            <a:ext cx="4476750" cy="1619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3DC38-DD9B-46DB-A7EC-896B2C54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4629150" cy="1771650"/>
          </a:xfrm>
          <a:prstGeom xmlns:a="http://schemas.openxmlformats.org/drawingml/2006/main" prst="roundRect">
            <a:avLst>
              <a:gd name="adj" fmla="val 43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f05524c5b4acc"/>
          <a:stretch xmlns:a="http://schemas.openxmlformats.org/drawingml/2006/main"/>
        </p:blipFill>
        <p:spPr>
          <a:xfrm xmlns:a="http://schemas.openxmlformats.org/drawingml/2006/main">
            <a:off x="6762750" y="3352800"/>
            <a:ext cx="4000500" cy="1619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B7B6C-4129-40CD-A7B7-90AD613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152900" cy="1771650"/>
          </a:xfrm>
          <a:prstGeom xmlns:a="http://schemas.openxmlformats.org/drawingml/2006/main" prst="roundRect">
            <a:avLst>
              <a:gd name="adj" fmla="val 43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84F74-3E50-4515-AEA7-36D7FD9F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도구 이름을 나열한 것이 아니라, 각 도구가 관측성 파이프라인의 한 역할을 맡도록 설계했습니다.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8B06F7-5C9E-47E5-B576-44F8483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A98DF-58E6-4778-99AB-000BF8EF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9554442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A146A-A27A-40DC-89DE-89E492DC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C8C2E-F708-44C0-8BB0-C1AE2D1C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2F14C-CC75-4C86-98D1-416247E5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20B84-BB9D-4708-B202-BD8B859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데모 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2FFE8-94B7-47FA-B2A0-E2254B0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3분 데모는 문제 해결만 보여줍니다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a5bb27b494caa"/>
          <a:stretch xmlns:a="http://schemas.openxmlformats.org/drawingml/2006/main"/>
        </p:blipFill>
        <p:spPr>
          <a:xfrm xmlns:a="http://schemas.openxmlformats.org/drawingml/2006/main">
            <a:off x="552450" y="1524000"/>
            <a:ext cx="447675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9DAE8-D998-48B7-A0CF-77DA2A71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47800"/>
            <a:ext cx="4629150" cy="3581400"/>
          </a:xfrm>
          <a:prstGeom xmlns:a="http://schemas.openxmlformats.org/drawingml/2006/main" prst="roundRect">
            <a:avLst>
              <a:gd name="adj" fmla="val 212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142E5-29F5-456B-95F6-07BDF14D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476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8B06B-D4D9-441D-8B3B-70CCA77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F3FFD-BB1A-4ABF-9AD4-1147BBB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95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0:00-0:40 문제 주입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C6548-A2C3-49CF-A7DA-A49DAC5E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slow_retrieve, high_token, error 요청을 생성합니다.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DAF47-2ABD-4A6E-83DC-DEE7F4FA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476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B055E-EC4F-436E-95E0-ECC62A60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DBB0F-9DD3-496E-8F3F-BCD1F51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0:40-1:30 요청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2AD58-489A-4B13-9195-CAA5889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응답의 request_id와 trace_id가 대시보드에 유지되는지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2E38D-2391-4036-B99A-C767849F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476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53575-E6D6-4F18-8CE5-4C1AB9C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C5139-77F1-4BCA-9B23-DBE851A3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1:30-2:20 원인 고립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3499F-CE0E-459E-A2A8-A321B6C1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005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 지연과 llm_call 지연이 서로 다르게 보이는지 확인합니다.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A726B-EA4D-4BB3-921D-EFEB0BA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476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F3BA6-836A-4079-9003-A55A7F94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67E50-558F-461D-9C17-7F65E92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816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2:20-3:00 알림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FEAC2-64CF-4E26-BC22-F8DFDC0C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6260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 alert와 Discord 알림으로 대응 흐름을 마무리합니다.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0D519-CA62-47F1-94FA-9F098CA8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5033B-28E5-406A-823E-19FDF51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20796301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B1C9A-8876-461B-BA74-CD62E168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5EDCD-8D29-4FD2-82B7-D9A0927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02043-FD07-4302-818E-2522EB5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53EDA-EF51-4113-9CC3-3D75DBC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E9897-3A14-4941-B2FF-EBA5406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측정 결과: 병목이 의도한 단계에서 드러났습니다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B539C-9BAE-4C54-8D6B-27446FE6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p50 latency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D959A-139B-48FF-B410-711AEA98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normal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A3053-A4E5-4180-A440-FCF497A6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52650"/>
            <a:ext cx="3667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EE2A2-9314-4E53-9706-E311846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52650"/>
            <a:ext cx="14668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89F2B-E100-43C5-9590-7C134A63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859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1.47초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DF2A1-CAF8-4FFE-9416-92715B3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F4D22-ED5E-4A1E-9C38-20775D4B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86050"/>
            <a:ext cx="3667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F4C54-E131-42F1-8EB4-4F1DE07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86050"/>
            <a:ext cx="4033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7A0FE-E95B-4A49-B95E-3CB6A38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3.96초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A0F67-95B8-4358-9388-0BDEF12B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F9EF6-8767-4DB9-A916-60DAE97B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19450"/>
            <a:ext cx="3667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C7DC8-3DFF-489F-8929-518FF7D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19450"/>
            <a:ext cx="22002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7321B-7FDC-4A92-AA26-EEE19A0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2.23초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9C1C8-CE0A-4FA5-9B93-2F6141B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high_token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949EB-AD5F-4A1B-8D92-212FA2F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52850"/>
            <a:ext cx="3667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7FFEA-33BC-422E-B8B1-02F0C22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52850"/>
            <a:ext cx="34470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1987F-2C11-49B8-8CF7-01A0790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34.58초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88AE3-ABF2-40E0-AC3B-A9CD99C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9E0CF-B944-4442-99D0-A1F286A7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86250"/>
            <a:ext cx="3667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8C545-D86B-48A7-B293-C602259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862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3BC75-8029-4D0E-8769-C5200E8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95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0.15초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955DA-F8E7-4FC6-B509-78FB89F3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3355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A1982-73AC-43E8-98A4-7ADC5593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RAG 검색 지연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C544B-E91A-4BAB-86AF-10D81CC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71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1.80초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91D1F9-AC37-41B6-920F-5F17732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 span, 정상 대비 약 12배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587F9-D2A3-4C18-984D-A9D03652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6230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9C8BE-264F-4102-8942-8BB7B54B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모델 호출 지연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1110B3-7C7B-49CC-9B3F-197D1A4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04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1.99초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9A0345-654A-42AA-85E5-A0DBF2A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814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llm_call 구간이 지연 대부분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94CC0-4D92-4536-B9F2-341B883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9105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8A0ED5-3C92-41DE-90F2-20AAD5F6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토큰 과다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5650F-F39E-45FA-9FF1-9A03D9D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292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457개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CFCA6F-C1B5-436E-A986-F7A3CF1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102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평균 토큰, p50 34.58초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748511-18A1-48D2-8064-510F4D88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7C5832-8A56-4833-A33F-2ADC4FD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567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49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지연만 보는 것이 아니라, 어느 단계가 문제인지 분리했습니다.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A47639-82DC-4AE7-A7A3-CD139D21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779AE4-10E8-495F-A5B0-DC703F7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046104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FB303-4968-4509-99C7-F24CCAC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5E74B-1AD0-4891-ADB4-0D60C83F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4E94-CED0-47BB-8A43-14730E9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F516A-1B29-4DEB-A346-EDF87194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방식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33CA-47F8-42B0-9253-2F5DC6D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End-to-End 검증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93649af594aae"/>
          <a:stretch xmlns:a="http://schemas.openxmlformats.org/drawingml/2006/main"/>
        </p:blipFill>
        <p:spPr>
          <a:xfrm xmlns:a="http://schemas.openxmlformats.org/drawingml/2006/main">
            <a:off x="609600" y="1485900"/>
            <a:ext cx="51435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AEA37-0C9E-4D79-B292-DEB889A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295900" cy="4248150"/>
          </a:xfrm>
          <a:prstGeom xmlns:a="http://schemas.openxmlformats.org/drawingml/2006/main" prst="roundRect">
            <a:avLst>
              <a:gd name="adj" fmla="val 17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2F7B8-AC7D-4E81-BD2D-F1BAE3FD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5FAE8-50D0-4E89-8399-FEA63A5D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9C558-5627-45F1-8ABB-86FB4862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ID가 유지되는가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062AA-C830-44A1-BE1D-362039B7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UI에서 생성된 request_id와 trace_id가 대시보드와 Jaeger에 남았습니다.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87987-A414-4F9E-9C56-1F5B24E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7D4C-AF1D-45B0-A98E-225A3C0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58CB6-E0F5-4D4B-9504-261FB083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시나리오와 일치하는가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9DA6C-D812-42C2-97AA-06F4E31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slow_retrieve, high_token, error가 metric과 span 구조에 다르게 나타났습니다.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0F3FE-B874-42D7-88AD-8CB620D7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EEE34-5D26-4645-9E45-F4909B7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217B4-CBF8-46FE-8224-6641E22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실패도 보존되는가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20B2A-634B-40AF-851E-98F6DE0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9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요청도 사라지지 않고 status=error로 추적되었습니다.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18596-4E31-4E06-9D47-B3E21E6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4C03D-5322-48B4-83FE-F4077E9C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5646553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C9DEE6-A2EE-4950-83CA-25F79007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BB918-9927-4FFA-867D-6C006D67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78B2B-0DE1-49D2-B7B7-C8F5C5D2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A53F0-D3AE-4482-BE3B-538008D1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 분석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FDA2E-E386-4059-B2BE-921DEBD1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비용과 토큰도 같은 관측 단위로 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6750-C712-4CEC-A9EF-E737287F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BBAE5-9BDB-4D82-962E-FA623EE2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0C08F-C126-448B-AAF5-A2AF5BA0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SLM 비용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489A3-0D5A-41A2-9DB7-F5BA14E9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외부 API 과금은 없지만, 모델 실행 시간을 인프라 비용으로 환산했습니다.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6641C-2D6E-4A53-8AA9-263BD33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811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CC534-20F3-40C4-B275-779E79F7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81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D558B-6E73-405B-AE47-494904C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 계산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9E9BD-0A5B-4E71-9F63-A70EFF1F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36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compute_seconds / 3600 × 0.05 USD/hour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63992-BEE4-4E58-8A19-16FE013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B51CA-1B5F-4865-8061-22EF288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03A8B-7616-4114-8DE2-EFD8507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확장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3E8D1-BFF5-4BFA-A51D-7F75CDF8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외부 LLM API로 바꾸면 토큰 단가 테이블만 교체하면 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33263-0DEA-4175-84BF-E5D9F3D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009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16D63-C2E3-4A53-B43C-CBC7F0C1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metric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609C7-D658-4550-9481-232FBD5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latency · stage duration · tokens · cost ·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8446C-5874-42DB-86DD-628549E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71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운영자는 비용 증가가 토큰 때문인지, 모델 실행 시간 때문인지, 실패와 연결되는지 함께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F7AC1-E905-4DC2-B634-86DD4CA4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CCFD7-102A-4500-B340-C0A00B44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1189531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0124C-14CE-473D-8E87-F89E4C60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EDAB7-FB8E-4F41-99B5-23D45571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4CEEE-D929-4220-A3ED-3C7002A4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11965-2C3E-4E42-8D54-F1650249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확장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B299A-3CBC-4989-A053-52D13CE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한계와 향후 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10D62-1CFC-47E0-A28E-A5E9177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1D9E9-CCD3-46AC-BDDD-288B5A5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0FCD2-6B39-43A7-B73D-804B2C9C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한계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A4F8-BBAA-4AFF-8614-D906C79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SLM 기반 MVP라 실제 외부 API 과금과 장기 저장은 검증하지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6EEDE-F8ED-416A-8AE7-7605C879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31B91-DD3F-44D1-A9EB-43A01F6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49A7-AD05-4311-B67A-30920ABC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보안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8798E-595B-46C0-B2A6-3C50805F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prompt 저장보다 템플릿 ID, 토큰 수, 익명화 식별자를 우선해야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F3D50-69CF-44F5-9239-A420B877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00255-4AE8-4DB7-9235-5BB5BE2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ACA25-F4BA-49B1-BA86-BE30944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품질 평가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44E36-CDA4-4DD4-A049-6E7253AF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RAG 근거 일치도, 인용 검증, LLM-as-a-judge는 다음 단계입니다.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582D8-D1AD-4C64-A209-914275D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148E6-1247-449B-9989-7608B85F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프로덕션 전환 과제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71A30-914B-4234-A85E-14C11A8E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Ingress/TLS, Secret 관리, RBAC, 감사 로그, 장기 metric 저장, SLO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5A42D-2E9C-415F-9C55-6A07106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245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다만 request_id와 trace_id 기반 구조는 그대로 확장할 수 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664EE-2ACB-4C14-9FFC-A81E39BB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807E7-F387-4A89-AC27-8DEB1CCF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2259717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18C3E-311D-4B70-8D42-48C472FE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C33BA-BA98-4F95-8986-3DAC5518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C5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01F8-1044-4CBC-9EEB-BB6D233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OLLY는 챗봇이 아니라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서비스를 운영하기 위한 관측성 계층입니다.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F7007-D9BF-49FE-8ABE-0283F8ED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000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4449A"/>
          </a:solidFill>
          <a:ln xmlns:a="http://schemas.openxmlformats.org/drawingml/2006/main" w="9525">
            <a:solidFill>
              <a:srgbClr val="3B5B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63A68-B473-4CA6-8C8D-378912D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27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9A"/>
          </a:solidFill>
          <a:ln xmlns:a="http://schemas.openxmlformats.org/drawingml/2006/main" w="0">
            <a:solidFill>
              <a:srgbClr val="24449A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5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요청 -&gt; trace와 metric 수집 -&gt; 대시보드 분석 -&gt; 알림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47D71-5DB2-44B2-B93E-C963138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6B4E8-796D-4464-B5C9-B9824D67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EE07-AD19-487D-96A6-BD16181C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33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지연과 비용의 원인을</a:t>
            </a:r>
          </a:p>
          <a:p xmlns:a="http://schemas.openxmlformats.org/drawingml/2006/main">
            <a:pPr algn="l">
              <a:defRPr sz="1500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결과만 보고 알기 어렵습니다.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15A30-E377-4594-A13D-E83E414C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57BBC-1109-4BB5-BE03-1979F99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672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14055-5B27-49E2-9FB7-664EB58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request_id와 trace_id로</a:t>
            </a:r>
          </a:p>
          <a:p xmlns:a="http://schemas.openxmlformats.org/drawingml/2006/main">
            <a:pPr algn="l">
              <a:defRPr sz="1500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요청을 끝까지 연결했습니다.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E0D85-E0D4-4021-B076-97D24BCB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770DE-A15D-476C-9198-D16ECFFF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20591-79C5-4CB6-90CF-978FCCC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339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46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5개 시나리오에서</a:t>
            </a:r>
          </a:p>
          <a:p xmlns:a="http://schemas.openxmlformats.org/drawingml/2006/main">
            <a:pPr algn="l">
              <a:defRPr sz="1500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병목과 metric이 일치했습니다.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517C9-95C0-4549-9466-83C5B35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912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표준 도구로 LLM 운영 문제를 추적 가능한 데이터 문제로 바꾼 것이 핵심입니다.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B46DF-1084-4357-9C46-EF7154D1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최종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8F6E7-5575-48EA-A265-D29DA62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54"/>
          </a:solidFill>
          <a:ln xmlns:a="http://schemas.openxmlformats.org/drawingml/2006/main" w="0">
            <a:solidFill>
              <a:srgbClr val="18255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7D2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93739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2026-06-03T14:05:52.1400000Z</dcterms:created>
  <dcterms:modified xsi:type="dcterms:W3CDTF">2026-06-03T14:05:52.1400000Z</dcterms:modified>
</coreProperties>
</file>